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91" r:id="rId4"/>
    <p:sldId id="260" r:id="rId5"/>
    <p:sldId id="267" r:id="rId6"/>
    <p:sldId id="266" r:id="rId7"/>
    <p:sldId id="262" r:id="rId8"/>
    <p:sldId id="263" r:id="rId9"/>
    <p:sldId id="268" r:id="rId10"/>
    <p:sldId id="270" r:id="rId11"/>
    <p:sldId id="284" r:id="rId12"/>
    <p:sldId id="285" r:id="rId13"/>
    <p:sldId id="271" r:id="rId14"/>
    <p:sldId id="273" r:id="rId15"/>
    <p:sldId id="287" r:id="rId16"/>
    <p:sldId id="274" r:id="rId17"/>
    <p:sldId id="281" r:id="rId18"/>
    <p:sldId id="290" r:id="rId19"/>
    <p:sldId id="264" r:id="rId20"/>
    <p:sldId id="265" r:id="rId21"/>
    <p:sldId id="259"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p:scale>
          <a:sx n="50" d="100"/>
          <a:sy n="50" d="100"/>
        </p:scale>
        <p:origin x="1771"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anwesha-panda-825427265?utm_source=share_via&amp;utm_content=profile&amp;utm_medium=member_android"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anwesha171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945086"/>
          </a:xfrm>
          <a:prstGeom prst="rect">
            <a:avLst/>
          </a:prstGeom>
          <a:noFill/>
          <a:ln>
            <a:noFill/>
          </a:ln>
        </p:spPr>
      </p:pic>
      <p:sp>
        <p:nvSpPr>
          <p:cNvPr id="99" name="Google Shape;99;p1"/>
          <p:cNvSpPr txBox="1"/>
          <p:nvPr/>
        </p:nvSpPr>
        <p:spPr>
          <a:xfrm>
            <a:off x="2472904" y="3685329"/>
            <a:ext cx="7246189" cy="1107955"/>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2800" b="1" dirty="0"/>
              <a:t>Employee Management System</a:t>
            </a:r>
          </a:p>
          <a:p>
            <a:pPr lvl="0" algn="ctr">
              <a:buSzPts val="1800"/>
            </a:pPr>
            <a:r>
              <a:rPr lang="en-IN" sz="2000" dirty="0"/>
              <a:t>A Relational Database Management System Using MySQL</a:t>
            </a:r>
            <a:endParaRPr sz="20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959E8DBF-5D5C-38E1-4AD0-27021B037E72}"/>
              </a:ext>
            </a:extLst>
          </p:cNvPr>
          <p:cNvSpPr txBox="1"/>
          <p:nvPr/>
        </p:nvSpPr>
        <p:spPr>
          <a:xfrm>
            <a:off x="4016829" y="5284409"/>
            <a:ext cx="3766457" cy="923330"/>
          </a:xfrm>
          <a:prstGeom prst="rect">
            <a:avLst/>
          </a:prstGeom>
          <a:noFill/>
        </p:spPr>
        <p:txBody>
          <a:bodyPr wrap="square" rtlCol="0">
            <a:spAutoFit/>
          </a:bodyPr>
          <a:lstStyle/>
          <a:p>
            <a:pPr algn="ctr"/>
            <a:r>
              <a:rPr lang="en-IN" sz="2000" b="1" dirty="0"/>
              <a:t>Presented By:</a:t>
            </a:r>
          </a:p>
          <a:p>
            <a:pPr algn="ctr"/>
            <a:r>
              <a:rPr lang="en-IN" sz="2000" b="1" dirty="0"/>
              <a:t>Anwesha Panda</a:t>
            </a:r>
            <a:br>
              <a:rPr lang="en-IN" dirty="0"/>
            </a:br>
            <a:endParaRPr lang="en-IN" dirty="0"/>
          </a:p>
        </p:txBody>
      </p:sp>
    </p:spTree>
  </p:cSld>
  <p:clrMapOvr>
    <a:masterClrMapping/>
  </p:clrMapOvr>
  <mc:AlternateContent xmlns:mc="http://schemas.openxmlformats.org/markup-compatibility/2006">
    <mc:Choice xmlns:p14="http://schemas.microsoft.com/office/powerpoint/2010/main" Requires="p14">
      <p:transition spd="slow" p14:dur="2000" advTm="17496"/>
    </mc:Choice>
    <mc:Fallback>
      <p:transition spd="slow" advTm="1749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3" name="TextBox 2">
            <a:extLst>
              <a:ext uri="{FF2B5EF4-FFF2-40B4-BE49-F238E27FC236}">
                <a16:creationId xmlns:a16="http://schemas.microsoft.com/office/drawing/2014/main" id="{5CD16D24-0D7D-00EC-86F0-19CEF9E0FBE9}"/>
              </a:ext>
            </a:extLst>
          </p:cNvPr>
          <p:cNvSpPr txBox="1"/>
          <p:nvPr/>
        </p:nvSpPr>
        <p:spPr>
          <a:xfrm>
            <a:off x="746760" y="420329"/>
            <a:ext cx="6477000" cy="738664"/>
          </a:xfrm>
          <a:prstGeom prst="rect">
            <a:avLst/>
          </a:prstGeom>
          <a:noFill/>
        </p:spPr>
        <p:txBody>
          <a:bodyPr wrap="square" rtlCol="0">
            <a:spAutoFit/>
          </a:bodyPr>
          <a:lstStyle/>
          <a:p>
            <a:r>
              <a:rPr lang="en-IN" sz="2800" dirty="0">
                <a:solidFill>
                  <a:schemeClr val="tx1">
                    <a:lumMod val="95000"/>
                    <a:lumOff val="5000"/>
                  </a:schemeClr>
                </a:solidFill>
                <a:latin typeface="Lato Black"/>
                <a:ea typeface="Lato Black"/>
                <a:cs typeface="Lato Black"/>
                <a:sym typeface="Lato Black"/>
              </a:rPr>
              <a:t>About Me :</a:t>
            </a:r>
            <a:endParaRPr lang="en-IN" sz="2800" dirty="0">
              <a:solidFill>
                <a:schemeClr val="tx1">
                  <a:lumMod val="95000"/>
                  <a:lumOff val="5000"/>
                </a:schemeClr>
              </a:solidFill>
              <a:latin typeface="Calibri"/>
              <a:ea typeface="Calibri"/>
              <a:cs typeface="Calibri"/>
              <a:sym typeface="Calibri"/>
            </a:endParaRPr>
          </a:p>
          <a:p>
            <a:endParaRPr lang="en-IN" dirty="0"/>
          </a:p>
        </p:txBody>
      </p:sp>
      <p:graphicFrame>
        <p:nvGraphicFramePr>
          <p:cNvPr id="7" name="Table 0">
            <a:extLst>
              <a:ext uri="{FF2B5EF4-FFF2-40B4-BE49-F238E27FC236}">
                <a16:creationId xmlns:a16="http://schemas.microsoft.com/office/drawing/2014/main" id="{707DDFA3-B0F0-141A-BEFD-E750DA1F9F35}"/>
              </a:ext>
            </a:extLst>
          </p:cNvPr>
          <p:cNvGraphicFramePr>
            <a:graphicFrameLocks noGrp="1"/>
          </p:cNvGraphicFramePr>
          <p:nvPr>
            <p:extLst>
              <p:ext uri="{D42A27DB-BD31-4B8C-83A1-F6EECF244321}">
                <p14:modId xmlns:p14="http://schemas.microsoft.com/office/powerpoint/2010/main" val="4267143336"/>
              </p:ext>
            </p:extLst>
          </p:nvPr>
        </p:nvGraphicFramePr>
        <p:xfrm>
          <a:off x="2527069" y="1463040"/>
          <a:ext cx="6457483" cy="4039403"/>
        </p:xfrm>
        <a:graphic>
          <a:graphicData uri="http://schemas.openxmlformats.org/drawingml/2006/table">
            <a:tbl>
              <a:tblPr/>
              <a:tblGrid>
                <a:gridCol w="6457483">
                  <a:extLst>
                    <a:ext uri="{9D8B030D-6E8A-4147-A177-3AD203B41FA5}">
                      <a16:colId xmlns:a16="http://schemas.microsoft.com/office/drawing/2014/main" val="20000"/>
                    </a:ext>
                  </a:extLst>
                </a:gridCol>
              </a:tblGrid>
              <a:tr h="665123">
                <a:tc>
                  <a:txBody>
                    <a:bodyPr/>
                    <a:lstStyle/>
                    <a:p>
                      <a:pPr marL="0" indent="0">
                        <a:buNone/>
                      </a:pPr>
                      <a:r>
                        <a:rPr lang="en-US" sz="1400" b="1" dirty="0">
                          <a:solidFill>
                            <a:srgbClr val="000000"/>
                          </a:solidFill>
                        </a:rPr>
                        <a:t>Anwesha </a:t>
                      </a:r>
                      <a:r>
                        <a:rPr lang="en-US" sz="1400" b="1">
                          <a:solidFill>
                            <a:srgbClr val="000000"/>
                          </a:solidFill>
                        </a:rPr>
                        <a:t>Panda </a:t>
                      </a:r>
                      <a:endParaRPr lang="en-US" sz="1400" dirty="0"/>
                    </a:p>
                  </a:txBody>
                  <a:tcPr marL="101600" marR="101600" marT="101600" marB="1016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616455">
                <a:tc>
                  <a:txBody>
                    <a:bodyPr/>
                    <a:lstStyle/>
                    <a:p>
                      <a:pPr marL="0" indent="0">
                        <a:buNone/>
                      </a:pPr>
                      <a:r>
                        <a:rPr lang="en-US" sz="1200" b="1" dirty="0">
                          <a:solidFill>
                            <a:srgbClr val="000000"/>
                          </a:solidFill>
                        </a:rPr>
                        <a:t>Background</a:t>
                      </a:r>
                      <a:r>
                        <a:rPr lang="en-US" sz="1200" dirty="0">
                          <a:solidFill>
                            <a:srgbClr val="000000"/>
                          </a:solidFill>
                        </a:rPr>
                        <a:t>: B.Tech – CSE </a:t>
                      </a:r>
                      <a:endParaRPr lang="en-US" sz="1200" dirty="0"/>
                    </a:p>
                  </a:txBody>
                  <a:tcPr marL="101600" marR="101600" marT="101600" marB="1016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908460">
                <a:tc>
                  <a:txBody>
                    <a:bodyPr/>
                    <a:lstStyle/>
                    <a:p>
                      <a:pPr marL="0" indent="0">
                        <a:buNone/>
                      </a:pPr>
                      <a:r>
                        <a:rPr lang="en-US" sz="1200" b="1" dirty="0">
                          <a:solidFill>
                            <a:srgbClr val="000000"/>
                          </a:solidFill>
                        </a:rPr>
                        <a:t>Why Data Science</a:t>
                      </a:r>
                      <a:r>
                        <a:rPr lang="en-US" sz="1200" dirty="0">
                          <a:solidFill>
                            <a:srgbClr val="000000"/>
                          </a:solidFill>
                        </a:rPr>
                        <a:t>?</a:t>
                      </a:r>
                    </a:p>
                    <a:p>
                      <a:pPr marL="0" indent="0">
                        <a:buNone/>
                      </a:pPr>
                      <a:r>
                        <a:rPr lang="en-US" sz="1200" dirty="0">
                          <a:solidFill>
                            <a:srgbClr val="000000"/>
                          </a:solidFill>
                        </a:rPr>
                        <a:t> Interested in building data-driven, database-backed solutions to real-world business problems.</a:t>
                      </a:r>
                      <a:endParaRPr lang="en-US" sz="1200" dirty="0"/>
                    </a:p>
                  </a:txBody>
                  <a:tcPr marL="101600" marR="101600" marT="101600" marB="1016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616455">
                <a:tc>
                  <a:txBody>
                    <a:bodyPr/>
                    <a:lstStyle/>
                    <a:p>
                      <a:pPr marL="0" indent="0">
                        <a:buNone/>
                      </a:pPr>
                      <a:r>
                        <a:rPr lang="en-US" sz="1200" b="1" dirty="0">
                          <a:solidFill>
                            <a:srgbClr val="000000"/>
                          </a:solidFill>
                        </a:rPr>
                        <a:t>Work</a:t>
                      </a:r>
                      <a:r>
                        <a:rPr lang="en-US" sz="1200" dirty="0">
                          <a:solidFill>
                            <a:srgbClr val="000000"/>
                          </a:solidFill>
                        </a:rPr>
                        <a:t> </a:t>
                      </a:r>
                      <a:r>
                        <a:rPr lang="en-US" sz="1200" b="1" dirty="0">
                          <a:solidFill>
                            <a:srgbClr val="000000"/>
                          </a:solidFill>
                        </a:rPr>
                        <a:t>Experience</a:t>
                      </a:r>
                      <a:r>
                        <a:rPr lang="en-US" sz="1200" dirty="0">
                          <a:solidFill>
                            <a:srgbClr val="000000"/>
                          </a:solidFill>
                        </a:rPr>
                        <a:t>: Fresher</a:t>
                      </a:r>
                      <a:endParaRPr lang="en-US" sz="1200" dirty="0"/>
                    </a:p>
                  </a:txBody>
                  <a:tcPr marL="101600" marR="101600" marT="101600" marB="1016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616455">
                <a:tc>
                  <a:txBody>
                    <a:bodyPr/>
                    <a:lstStyle/>
                    <a:p>
                      <a:pPr marL="0" indent="0">
                        <a:buNone/>
                      </a:pPr>
                      <a:r>
                        <a:rPr lang="en-US" sz="1200" b="1" dirty="0">
                          <a:solidFill>
                            <a:srgbClr val="0563C1"/>
                          </a:solidFill>
                        </a:rPr>
                        <a:t>LinkedIn</a:t>
                      </a:r>
                      <a:r>
                        <a:rPr lang="en-US" sz="1200" dirty="0">
                          <a:solidFill>
                            <a:srgbClr val="0563C1"/>
                          </a:solidFill>
                        </a:rPr>
                        <a:t>:   </a:t>
                      </a:r>
                      <a:r>
                        <a:rPr lang="en-US" sz="1200" dirty="0">
                          <a:solidFill>
                            <a:srgbClr val="0563C1"/>
                          </a:solidFill>
                          <a:hlinkClick r:id="rId3"/>
                        </a:rPr>
                        <a:t>LinkedIn</a:t>
                      </a:r>
                      <a:r>
                        <a:rPr lang="en-US" sz="1200" dirty="0">
                          <a:solidFill>
                            <a:srgbClr val="0563C1"/>
                          </a:solidFill>
                        </a:rPr>
                        <a:t>_URL</a:t>
                      </a:r>
                      <a:endParaRPr lang="en-US" sz="1200" dirty="0"/>
                    </a:p>
                  </a:txBody>
                  <a:tcPr marL="101600" marR="101600" marT="101600" marB="1016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616455">
                <a:tc>
                  <a:txBody>
                    <a:bodyPr/>
                    <a:lstStyle/>
                    <a:p>
                      <a:pPr marL="0" indent="0">
                        <a:buNone/>
                      </a:pPr>
                      <a:r>
                        <a:rPr lang="en-US" sz="1200" b="1" dirty="0">
                          <a:solidFill>
                            <a:srgbClr val="0563C1"/>
                          </a:solidFill>
                        </a:rPr>
                        <a:t>GitHub</a:t>
                      </a:r>
                      <a:r>
                        <a:rPr lang="en-US" sz="1200" dirty="0">
                          <a:solidFill>
                            <a:srgbClr val="0563C1"/>
                          </a:solidFill>
                        </a:rPr>
                        <a:t>: </a:t>
                      </a:r>
                      <a:r>
                        <a:rPr lang="en-US" sz="1200" dirty="0">
                          <a:solidFill>
                            <a:srgbClr val="0563C1"/>
                          </a:solidFill>
                          <a:hlinkClick r:id="rId4"/>
                        </a:rPr>
                        <a:t>GitHub</a:t>
                      </a:r>
                      <a:r>
                        <a:rPr lang="en-US" sz="1200" dirty="0">
                          <a:solidFill>
                            <a:srgbClr val="0563C1"/>
                          </a:solidFill>
                        </a:rPr>
                        <a:t>_URL</a:t>
                      </a:r>
                      <a:endParaRPr lang="en-US" sz="1200" dirty="0"/>
                    </a:p>
                  </a:txBody>
                  <a:tcPr marL="101600" marR="101600" marT="101600" marB="1016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2210"/>
    </mc:Choice>
    <mc:Fallback>
      <p:transition spd="slow" advTm="1221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FFB1A4-E91A-564A-5574-6A1AFCFCD2B3}"/>
              </a:ext>
            </a:extLst>
          </p:cNvPr>
          <p:cNvSpPr txBox="1"/>
          <p:nvPr/>
        </p:nvSpPr>
        <p:spPr>
          <a:xfrm>
            <a:off x="1189703" y="943897"/>
            <a:ext cx="6096000" cy="707886"/>
          </a:xfrm>
          <a:prstGeom prst="rect">
            <a:avLst/>
          </a:prstGeom>
          <a:noFill/>
        </p:spPr>
        <p:txBody>
          <a:bodyPr wrap="square" rtlCol="0">
            <a:spAutoFit/>
          </a:bodyPr>
          <a:lstStyle/>
          <a:p>
            <a:r>
              <a:rPr lang="en-IN" sz="4000" b="1" dirty="0">
                <a:solidFill>
                  <a:schemeClr val="tx1">
                    <a:lumMod val="95000"/>
                    <a:lumOff val="5000"/>
                  </a:schemeClr>
                </a:solidFill>
              </a:rPr>
              <a:t>Agenda</a:t>
            </a:r>
            <a:endParaRPr lang="en-IN" sz="4000" dirty="0">
              <a:solidFill>
                <a:schemeClr val="tx1">
                  <a:lumMod val="95000"/>
                  <a:lumOff val="5000"/>
                </a:schemeClr>
              </a:solidFill>
            </a:endParaRPr>
          </a:p>
        </p:txBody>
      </p:sp>
      <p:sp>
        <p:nvSpPr>
          <p:cNvPr id="5" name="TextBox 4">
            <a:extLst>
              <a:ext uri="{FF2B5EF4-FFF2-40B4-BE49-F238E27FC236}">
                <a16:creationId xmlns:a16="http://schemas.microsoft.com/office/drawing/2014/main" id="{9E9E0E94-9437-F401-7390-725EAAE3F84E}"/>
              </a:ext>
            </a:extLst>
          </p:cNvPr>
          <p:cNvSpPr txBox="1"/>
          <p:nvPr/>
        </p:nvSpPr>
        <p:spPr>
          <a:xfrm>
            <a:off x="1120878" y="2340077"/>
            <a:ext cx="9330812" cy="4937762"/>
          </a:xfrm>
          <a:prstGeom prst="rect">
            <a:avLst/>
          </a:prstGeom>
          <a:noFill/>
        </p:spPr>
        <p:txBody>
          <a:bodyPr wrap="square" rtlCol="0">
            <a:spAutoFit/>
          </a:bodyPr>
          <a:lstStyle/>
          <a:p>
            <a:pPr marL="457200" lvl="0" indent="-431800" algn="just">
              <a:lnSpc>
                <a:spcPct val="90000"/>
              </a:lnSpc>
              <a:spcBef>
                <a:spcPts val="1000"/>
              </a:spcBef>
              <a:buSzPts val="2400"/>
              <a:buChar char="•"/>
            </a:pPr>
            <a:r>
              <a:rPr lang="en-US" sz="2400" dirty="0"/>
              <a:t>Objective of the Project</a:t>
            </a:r>
          </a:p>
          <a:p>
            <a:pPr marL="457200" lvl="0" indent="-431800" algn="just">
              <a:lnSpc>
                <a:spcPct val="90000"/>
              </a:lnSpc>
              <a:spcBef>
                <a:spcPts val="1000"/>
              </a:spcBef>
              <a:buSzPts val="2400"/>
              <a:buChar char="•"/>
            </a:pPr>
            <a:r>
              <a:rPr lang="en-US" sz="2400" dirty="0"/>
              <a:t>Problem Statement</a:t>
            </a:r>
          </a:p>
          <a:p>
            <a:pPr marL="457200" lvl="0" indent="-431800" algn="just">
              <a:lnSpc>
                <a:spcPct val="90000"/>
              </a:lnSpc>
              <a:spcBef>
                <a:spcPts val="1000"/>
              </a:spcBef>
              <a:buSzPts val="2400"/>
              <a:buChar char="•"/>
            </a:pPr>
            <a:r>
              <a:rPr lang="en-US" sz="2400" dirty="0"/>
              <a:t>Overview</a:t>
            </a:r>
          </a:p>
          <a:p>
            <a:pPr marL="457200" lvl="0" indent="-431800" algn="just">
              <a:lnSpc>
                <a:spcPct val="90000"/>
              </a:lnSpc>
              <a:spcBef>
                <a:spcPts val="1000"/>
              </a:spcBef>
              <a:buSzPts val="2400"/>
              <a:buChar char="•"/>
            </a:pPr>
            <a:r>
              <a:rPr lang="en-IN" sz="2400" dirty="0"/>
              <a:t>ER Diagram</a:t>
            </a:r>
          </a:p>
          <a:p>
            <a:pPr marL="457200" indent="-431800" algn="just">
              <a:lnSpc>
                <a:spcPct val="90000"/>
              </a:lnSpc>
              <a:spcBef>
                <a:spcPts val="1000"/>
              </a:spcBef>
              <a:buSzPts val="2400"/>
              <a:buFont typeface="Arial"/>
              <a:buChar char="•"/>
            </a:pPr>
            <a:r>
              <a:rPr lang="en-IN" sz="2400" dirty="0"/>
              <a:t>Q&amp;A Slide </a:t>
            </a:r>
          </a:p>
          <a:p>
            <a:pPr marL="457200" indent="-431800" algn="just">
              <a:lnSpc>
                <a:spcPct val="90000"/>
              </a:lnSpc>
              <a:spcBef>
                <a:spcPts val="1000"/>
              </a:spcBef>
              <a:buSzPts val="2400"/>
              <a:buFont typeface="Arial"/>
              <a:buChar char="•"/>
            </a:pPr>
            <a:r>
              <a:rPr lang="en-US" sz="2400" dirty="0"/>
              <a:t>Challenges Faced</a:t>
            </a:r>
          </a:p>
          <a:p>
            <a:pPr marL="457200" indent="-431800" algn="just">
              <a:lnSpc>
                <a:spcPct val="90000"/>
              </a:lnSpc>
              <a:spcBef>
                <a:spcPts val="1000"/>
              </a:spcBef>
              <a:buSzPts val="2400"/>
              <a:buFont typeface="Arial"/>
              <a:buChar char="•"/>
            </a:pPr>
            <a:r>
              <a:rPr lang="en-US" sz="2400" dirty="0"/>
              <a:t>Conclusion</a:t>
            </a:r>
          </a:p>
          <a:p>
            <a:pPr marL="457200" indent="-431800" algn="just">
              <a:lnSpc>
                <a:spcPct val="90000"/>
              </a:lnSpc>
              <a:spcBef>
                <a:spcPts val="1000"/>
              </a:spcBef>
              <a:buSzPts val="2400"/>
              <a:buFont typeface="Arial"/>
              <a:buChar char="•"/>
            </a:pPr>
            <a:endParaRPr lang="en-IN" sz="2400" dirty="0"/>
          </a:p>
          <a:p>
            <a:pPr marL="457200" lvl="0" indent="-431800" algn="just">
              <a:lnSpc>
                <a:spcPct val="90000"/>
              </a:lnSpc>
              <a:spcBef>
                <a:spcPts val="1000"/>
              </a:spcBef>
              <a:buSzPts val="2400"/>
              <a:buChar char="•"/>
            </a:pPr>
            <a:endParaRPr lang="en-US" dirty="0"/>
          </a:p>
          <a:p>
            <a:pPr marL="457200" lvl="0" indent="-431800" algn="just">
              <a:lnSpc>
                <a:spcPct val="90000"/>
              </a:lnSpc>
              <a:spcBef>
                <a:spcPts val="1000"/>
              </a:spcBef>
              <a:buSzPts val="2400"/>
              <a:buChar char="•"/>
            </a:pPr>
            <a:endParaRPr lang="en-US" dirty="0"/>
          </a:p>
          <a:p>
            <a:pPr marL="457200" lvl="0" algn="just">
              <a:lnSpc>
                <a:spcPct val="90000"/>
              </a:lnSpc>
              <a:spcBef>
                <a:spcPts val="1000"/>
              </a:spcBef>
            </a:pPr>
            <a:endParaRPr lang="en-US" dirty="0"/>
          </a:p>
          <a:p>
            <a:pPr marL="25400" lvl="0" algn="just">
              <a:lnSpc>
                <a:spcPct val="90000"/>
              </a:lnSpc>
              <a:spcBef>
                <a:spcPts val="1000"/>
              </a:spcBef>
              <a:buSzPts val="2400"/>
            </a:pPr>
            <a:endParaRPr lang="en-US" dirty="0"/>
          </a:p>
        </p:txBody>
      </p:sp>
    </p:spTree>
    <p:extLst>
      <p:ext uri="{BB962C8B-B14F-4D97-AF65-F5344CB8AC3E}">
        <p14:creationId xmlns:p14="http://schemas.microsoft.com/office/powerpoint/2010/main" val="3696266368"/>
      </p:ext>
    </p:extLst>
  </p:cSld>
  <p:clrMapOvr>
    <a:masterClrMapping/>
  </p:clrMapOvr>
  <mc:AlternateContent xmlns:mc="http://schemas.openxmlformats.org/markup-compatibility/2006">
    <mc:Choice xmlns:p14="http://schemas.microsoft.com/office/powerpoint/2010/main" Requires="p14">
      <p:transition spd="slow" p14:dur="2000" advTm="13828"/>
    </mc:Choice>
    <mc:Fallback>
      <p:transition spd="slow" advTm="1382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80213-F35A-359F-E360-30DB0D9A7C0E}"/>
              </a:ext>
            </a:extLst>
          </p:cNvPr>
          <p:cNvSpPr>
            <a:spLocks noGrp="1"/>
          </p:cNvSpPr>
          <p:nvPr>
            <p:ph type="title"/>
          </p:nvPr>
        </p:nvSpPr>
        <p:spPr>
          <a:xfrm>
            <a:off x="707570" y="388274"/>
            <a:ext cx="10515600" cy="1325563"/>
          </a:xfrm>
        </p:spPr>
        <p:txBody>
          <a:bodyPr/>
          <a:lstStyle/>
          <a:p>
            <a:r>
              <a:rPr lang="en-US" b="1" dirty="0"/>
              <a:t>Objective :</a:t>
            </a:r>
            <a:endParaRPr lang="en-IN" b="1" dirty="0"/>
          </a:p>
        </p:txBody>
      </p:sp>
      <p:sp>
        <p:nvSpPr>
          <p:cNvPr id="3" name="Text Placeholder 2">
            <a:extLst>
              <a:ext uri="{FF2B5EF4-FFF2-40B4-BE49-F238E27FC236}">
                <a16:creationId xmlns:a16="http://schemas.microsoft.com/office/drawing/2014/main" id="{12D7CD74-6C9F-2593-75A5-14AC4E797F43}"/>
              </a:ext>
            </a:extLst>
          </p:cNvPr>
          <p:cNvSpPr>
            <a:spLocks noGrp="1"/>
          </p:cNvSpPr>
          <p:nvPr>
            <p:ph type="body" idx="1"/>
          </p:nvPr>
        </p:nvSpPr>
        <p:spPr>
          <a:xfrm>
            <a:off x="576942" y="1825625"/>
            <a:ext cx="10776857" cy="4351338"/>
          </a:xfrm>
        </p:spPr>
        <p:txBody>
          <a:bodyPr/>
          <a:lstStyle/>
          <a:p>
            <a:pPr lvl="0"/>
            <a:r>
              <a:rPr lang="en-IN" dirty="0"/>
              <a:t>To </a:t>
            </a:r>
            <a:r>
              <a:rPr lang="en-IN" dirty="0" err="1"/>
              <a:t>analyze</a:t>
            </a:r>
            <a:r>
              <a:rPr lang="en-IN" dirty="0"/>
              <a:t> employee data using SQL queries and database operations. </a:t>
            </a:r>
          </a:p>
          <a:p>
            <a:pPr lvl="0"/>
            <a:r>
              <a:rPr lang="en-IN" dirty="0"/>
              <a:t>To understand employee distribution across departments and job roles. </a:t>
            </a:r>
          </a:p>
          <a:p>
            <a:pPr lvl="0"/>
            <a:r>
              <a:rPr lang="en-IN" dirty="0"/>
              <a:t>To </a:t>
            </a:r>
            <a:r>
              <a:rPr lang="en-IN" dirty="0" err="1"/>
              <a:t>analyze</a:t>
            </a:r>
            <a:r>
              <a:rPr lang="en-IN" dirty="0"/>
              <a:t> salary, bonus, and payroll expenses. </a:t>
            </a:r>
          </a:p>
          <a:p>
            <a:pPr lvl="0"/>
            <a:r>
              <a:rPr lang="en-IN" dirty="0"/>
              <a:t>To evaluate employee leaves and qualification records. </a:t>
            </a:r>
          </a:p>
          <a:p>
            <a:pPr lvl="0"/>
            <a:r>
              <a:rPr lang="en-IN" dirty="0"/>
              <a:t>To generate meaningful findings that support better HR decision-making and workforce management.</a:t>
            </a:r>
          </a:p>
          <a:p>
            <a:pPr marL="1028700" lvl="2" indent="0">
              <a:buNone/>
            </a:pPr>
            <a:endParaRPr lang="en-IN" dirty="0"/>
          </a:p>
        </p:txBody>
      </p:sp>
    </p:spTree>
    <p:extLst>
      <p:ext uri="{BB962C8B-B14F-4D97-AF65-F5344CB8AC3E}">
        <p14:creationId xmlns:p14="http://schemas.microsoft.com/office/powerpoint/2010/main" val="1513137251"/>
      </p:ext>
    </p:extLst>
  </p:cSld>
  <p:clrMapOvr>
    <a:masterClrMapping/>
  </p:clrMapOvr>
  <mc:AlternateContent xmlns:mc="http://schemas.openxmlformats.org/markup-compatibility/2006">
    <mc:Choice xmlns:p14="http://schemas.microsoft.com/office/powerpoint/2010/main" Requires="p14">
      <p:transition spd="slow" p14:dur="2000" advTm="49845"/>
    </mc:Choice>
    <mc:Fallback>
      <p:transition spd="slow" advTm="4984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93BEA-94ED-A983-ECD1-57749330CCB9}"/>
              </a:ext>
            </a:extLst>
          </p:cNvPr>
          <p:cNvSpPr>
            <a:spLocks noGrp="1"/>
          </p:cNvSpPr>
          <p:nvPr>
            <p:ph type="title"/>
          </p:nvPr>
        </p:nvSpPr>
        <p:spPr>
          <a:xfrm>
            <a:off x="762000" y="365125"/>
            <a:ext cx="10515600" cy="1325563"/>
          </a:xfrm>
        </p:spPr>
        <p:txBody>
          <a:bodyPr/>
          <a:lstStyle/>
          <a:p>
            <a:r>
              <a:rPr lang="en-US" b="1" dirty="0"/>
              <a:t>Problem Statement :</a:t>
            </a:r>
            <a:endParaRPr lang="en-IN" b="1" dirty="0"/>
          </a:p>
        </p:txBody>
      </p:sp>
      <p:sp>
        <p:nvSpPr>
          <p:cNvPr id="3" name="Text Placeholder 2">
            <a:extLst>
              <a:ext uri="{FF2B5EF4-FFF2-40B4-BE49-F238E27FC236}">
                <a16:creationId xmlns:a16="http://schemas.microsoft.com/office/drawing/2014/main" id="{33FD96DE-F1AA-FF1E-5767-C4C350BEA0A8}"/>
              </a:ext>
            </a:extLst>
          </p:cNvPr>
          <p:cNvSpPr>
            <a:spLocks noGrp="1"/>
          </p:cNvSpPr>
          <p:nvPr>
            <p:ph type="body" idx="1"/>
          </p:nvPr>
        </p:nvSpPr>
        <p:spPr/>
        <p:txBody>
          <a:bodyPr>
            <a:normAutofit/>
          </a:bodyPr>
          <a:lstStyle/>
          <a:p>
            <a:pPr lvl="0" algn="just"/>
            <a:r>
              <a:rPr lang="en-IN" dirty="0"/>
              <a:t>Employee data is stored across multiple tables. </a:t>
            </a:r>
          </a:p>
          <a:p>
            <a:pPr lvl="0" algn="just"/>
            <a:r>
              <a:rPr lang="en-IN" dirty="0"/>
              <a:t>The data includes employee, department, salary, payroll, leave, and qualification details. </a:t>
            </a:r>
          </a:p>
          <a:p>
            <a:pPr lvl="0" algn="just"/>
            <a:r>
              <a:rPr lang="en-IN" dirty="0"/>
              <a:t>It is difficult to </a:t>
            </a:r>
            <a:r>
              <a:rPr lang="en-IN" dirty="0" err="1"/>
              <a:t>analyze</a:t>
            </a:r>
            <a:r>
              <a:rPr lang="en-IN" dirty="0"/>
              <a:t> all employee information manually. </a:t>
            </a:r>
          </a:p>
          <a:p>
            <a:pPr lvl="0" algn="just"/>
            <a:r>
              <a:rPr lang="en-IN" dirty="0"/>
              <a:t>SQL is used to organize, combine, and </a:t>
            </a:r>
            <a:r>
              <a:rPr lang="en-IN" dirty="0" err="1"/>
              <a:t>analyze</a:t>
            </a:r>
            <a:r>
              <a:rPr lang="en-IN" dirty="0"/>
              <a:t> the available data. </a:t>
            </a:r>
          </a:p>
          <a:p>
            <a:pPr lvl="0" algn="just"/>
            <a:r>
              <a:rPr lang="en-IN" dirty="0"/>
              <a:t>The goal is to generate accurate findings for better HR management. </a:t>
            </a:r>
          </a:p>
        </p:txBody>
      </p:sp>
    </p:spTree>
    <p:extLst>
      <p:ext uri="{BB962C8B-B14F-4D97-AF65-F5344CB8AC3E}">
        <p14:creationId xmlns:p14="http://schemas.microsoft.com/office/powerpoint/2010/main" val="606282559"/>
      </p:ext>
    </p:extLst>
  </p:cSld>
  <p:clrMapOvr>
    <a:masterClrMapping/>
  </p:clrMapOvr>
  <mc:AlternateContent xmlns:mc="http://schemas.openxmlformats.org/markup-compatibility/2006">
    <mc:Choice xmlns:p14="http://schemas.microsoft.com/office/powerpoint/2010/main" Requires="p14">
      <p:transition spd="slow" p14:dur="2000" advTm="48625"/>
    </mc:Choice>
    <mc:Fallback>
      <p:transition spd="slow" advTm="4862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66CDF-182C-512E-2E41-902F06725395}"/>
              </a:ext>
            </a:extLst>
          </p:cNvPr>
          <p:cNvSpPr>
            <a:spLocks noGrp="1"/>
          </p:cNvSpPr>
          <p:nvPr>
            <p:ph type="title"/>
          </p:nvPr>
        </p:nvSpPr>
        <p:spPr/>
        <p:txBody>
          <a:bodyPr/>
          <a:lstStyle/>
          <a:p>
            <a:r>
              <a:rPr lang="en-US" b="1" dirty="0"/>
              <a:t>Overview :</a:t>
            </a:r>
            <a:endParaRPr lang="en-IN" b="1" dirty="0"/>
          </a:p>
        </p:txBody>
      </p:sp>
      <p:sp>
        <p:nvSpPr>
          <p:cNvPr id="3" name="Text Placeholder 2">
            <a:extLst>
              <a:ext uri="{FF2B5EF4-FFF2-40B4-BE49-F238E27FC236}">
                <a16:creationId xmlns:a16="http://schemas.microsoft.com/office/drawing/2014/main" id="{65B3F124-6EB9-CD74-604B-A95B6AE0480B}"/>
              </a:ext>
            </a:extLst>
          </p:cNvPr>
          <p:cNvSpPr>
            <a:spLocks noGrp="1"/>
          </p:cNvSpPr>
          <p:nvPr>
            <p:ph type="body" idx="1"/>
          </p:nvPr>
        </p:nvSpPr>
        <p:spPr/>
        <p:txBody>
          <a:bodyPr/>
          <a:lstStyle/>
          <a:p>
            <a:pPr marL="114300" indent="0">
              <a:buNone/>
            </a:pPr>
            <a:r>
              <a:rPr lang="en-IN" b="1" dirty="0"/>
              <a:t>Technologies Used :</a:t>
            </a:r>
          </a:p>
          <a:p>
            <a:pPr marL="114300" indent="0">
              <a:buNone/>
            </a:pPr>
            <a:endParaRPr lang="en-IN" b="1" dirty="0"/>
          </a:p>
          <a:p>
            <a:pPr>
              <a:buFont typeface="Arial" panose="020B0604020202020204" pitchFamily="34" charset="0"/>
              <a:buChar char="•"/>
            </a:pPr>
            <a:r>
              <a:rPr lang="en-IN" dirty="0"/>
              <a:t>MySQL </a:t>
            </a:r>
          </a:p>
          <a:p>
            <a:pPr>
              <a:buFont typeface="Arial" panose="020B0604020202020204" pitchFamily="34" charset="0"/>
              <a:buChar char="•"/>
            </a:pPr>
            <a:r>
              <a:rPr lang="en-IN" dirty="0"/>
              <a:t>SQL </a:t>
            </a:r>
          </a:p>
          <a:p>
            <a:r>
              <a:rPr lang="en-IN" dirty="0"/>
              <a:t>MySQL Workbench</a:t>
            </a:r>
          </a:p>
          <a:p>
            <a:pPr marL="114300" indent="0">
              <a:buNone/>
            </a:pPr>
            <a:endParaRPr lang="en-IN" dirty="0"/>
          </a:p>
        </p:txBody>
      </p:sp>
      <p:sp>
        <p:nvSpPr>
          <p:cNvPr id="4" name="Text Placeholder 3">
            <a:extLst>
              <a:ext uri="{FF2B5EF4-FFF2-40B4-BE49-F238E27FC236}">
                <a16:creationId xmlns:a16="http://schemas.microsoft.com/office/drawing/2014/main" id="{52AA2B30-6E43-E46B-A587-52110F1B5CF0}"/>
              </a:ext>
            </a:extLst>
          </p:cNvPr>
          <p:cNvSpPr>
            <a:spLocks noGrp="1"/>
          </p:cNvSpPr>
          <p:nvPr>
            <p:ph type="body" idx="2"/>
          </p:nvPr>
        </p:nvSpPr>
        <p:spPr>
          <a:xfrm>
            <a:off x="5595257" y="1825625"/>
            <a:ext cx="6368143" cy="4351338"/>
          </a:xfrm>
        </p:spPr>
        <p:txBody>
          <a:bodyPr>
            <a:normAutofit/>
          </a:bodyPr>
          <a:lstStyle/>
          <a:p>
            <a:pPr marL="114300" indent="0">
              <a:buNone/>
            </a:pPr>
            <a:r>
              <a:rPr lang="en-IN" b="1" dirty="0"/>
              <a:t>Key Features :</a:t>
            </a:r>
          </a:p>
          <a:p>
            <a:pPr marL="114300" indent="0">
              <a:buNone/>
            </a:pPr>
            <a:endParaRPr lang="en-IN" b="1" dirty="0"/>
          </a:p>
          <a:p>
            <a:r>
              <a:rPr lang="en-IN" dirty="0"/>
              <a:t>Employee &amp; Job Management</a:t>
            </a:r>
          </a:p>
          <a:p>
            <a:r>
              <a:rPr lang="en-IN" dirty="0"/>
              <a:t>Salary &amp; Bonus Management </a:t>
            </a:r>
          </a:p>
          <a:p>
            <a:r>
              <a:rPr lang="en-IN" dirty="0"/>
              <a:t>Payroll Management</a:t>
            </a:r>
          </a:p>
          <a:p>
            <a:r>
              <a:rPr lang="en-IN" dirty="0"/>
              <a:t>Leave Management</a:t>
            </a:r>
          </a:p>
          <a:p>
            <a:r>
              <a:rPr lang="en-IN" dirty="0"/>
              <a:t>Qualification Management</a:t>
            </a:r>
          </a:p>
        </p:txBody>
      </p:sp>
    </p:spTree>
    <p:extLst>
      <p:ext uri="{BB962C8B-B14F-4D97-AF65-F5344CB8AC3E}">
        <p14:creationId xmlns:p14="http://schemas.microsoft.com/office/powerpoint/2010/main" val="176829339"/>
      </p:ext>
    </p:extLst>
  </p:cSld>
  <p:clrMapOvr>
    <a:masterClrMapping/>
  </p:clrMapOvr>
  <mc:AlternateContent xmlns:mc="http://schemas.openxmlformats.org/markup-compatibility/2006">
    <mc:Choice xmlns:p14="http://schemas.microsoft.com/office/powerpoint/2010/main" Requires="p14">
      <p:transition spd="slow" p14:dur="2000" advTm="26874"/>
    </mc:Choice>
    <mc:Fallback>
      <p:transition spd="slow" advTm="2687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A7DA9-D004-FA4A-9E9E-0ECDF44A84AB}"/>
              </a:ext>
            </a:extLst>
          </p:cNvPr>
          <p:cNvSpPr>
            <a:spLocks noGrp="1"/>
          </p:cNvSpPr>
          <p:nvPr>
            <p:ph type="title"/>
          </p:nvPr>
        </p:nvSpPr>
        <p:spPr>
          <a:xfrm>
            <a:off x="0" y="0"/>
            <a:ext cx="10515600" cy="1045029"/>
          </a:xfrm>
        </p:spPr>
        <p:txBody>
          <a:bodyPr/>
          <a:lstStyle/>
          <a:p>
            <a:pPr algn="ctr"/>
            <a:r>
              <a:rPr lang="en-IN" b="1" dirty="0"/>
              <a:t>EER Diagram :</a:t>
            </a:r>
          </a:p>
        </p:txBody>
      </p:sp>
      <p:pic>
        <p:nvPicPr>
          <p:cNvPr id="7" name="Picture 6">
            <a:extLst>
              <a:ext uri="{FF2B5EF4-FFF2-40B4-BE49-F238E27FC236}">
                <a16:creationId xmlns:a16="http://schemas.microsoft.com/office/drawing/2014/main" id="{3D764926-5D57-06E8-0A90-2A32FFDFE7FA}"/>
              </a:ext>
            </a:extLst>
          </p:cNvPr>
          <p:cNvPicPr>
            <a:picLocks noChangeAspect="1"/>
          </p:cNvPicPr>
          <p:nvPr/>
        </p:nvPicPr>
        <p:blipFill>
          <a:blip r:embed="rId2"/>
          <a:stretch>
            <a:fillRect/>
          </a:stretch>
        </p:blipFill>
        <p:spPr>
          <a:xfrm>
            <a:off x="1051155" y="875071"/>
            <a:ext cx="9371037" cy="5407742"/>
          </a:xfrm>
          <a:prstGeom prst="rect">
            <a:avLst/>
          </a:prstGeom>
        </p:spPr>
      </p:pic>
    </p:spTree>
    <p:extLst>
      <p:ext uri="{BB962C8B-B14F-4D97-AF65-F5344CB8AC3E}">
        <p14:creationId xmlns:p14="http://schemas.microsoft.com/office/powerpoint/2010/main" val="1285872809"/>
      </p:ext>
    </p:extLst>
  </p:cSld>
  <p:clrMapOvr>
    <a:masterClrMapping/>
  </p:clrMapOvr>
  <mc:AlternateContent xmlns:mc="http://schemas.openxmlformats.org/markup-compatibility/2006">
    <mc:Choice xmlns:p14="http://schemas.microsoft.com/office/powerpoint/2010/main" Requires="p14">
      <p:transition spd="slow" p14:dur="2000" advTm="32262"/>
    </mc:Choice>
    <mc:Fallback>
      <p:transition spd="slow" advTm="3226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52453-06B4-8A76-B947-84C711DD6378}"/>
              </a:ext>
            </a:extLst>
          </p:cNvPr>
          <p:cNvSpPr>
            <a:spLocks noGrp="1"/>
          </p:cNvSpPr>
          <p:nvPr>
            <p:ph type="title"/>
          </p:nvPr>
        </p:nvSpPr>
        <p:spPr>
          <a:xfrm>
            <a:off x="0" y="18255"/>
            <a:ext cx="10515600" cy="896145"/>
          </a:xfrm>
        </p:spPr>
        <p:txBody>
          <a:bodyPr>
            <a:normAutofit/>
          </a:bodyPr>
          <a:lstStyle/>
          <a:p>
            <a:r>
              <a:rPr lang="en-IN" sz="4000" b="1" dirty="0"/>
              <a:t>EMPLOYEE INSIGHTS:</a:t>
            </a:r>
          </a:p>
        </p:txBody>
      </p:sp>
      <p:sp>
        <p:nvSpPr>
          <p:cNvPr id="3" name="Text Placeholder 2">
            <a:extLst>
              <a:ext uri="{FF2B5EF4-FFF2-40B4-BE49-F238E27FC236}">
                <a16:creationId xmlns:a16="http://schemas.microsoft.com/office/drawing/2014/main" id="{708410F9-EAD7-B52C-441B-4DF9F6F71EE6}"/>
              </a:ext>
            </a:extLst>
          </p:cNvPr>
          <p:cNvSpPr>
            <a:spLocks noGrp="1"/>
          </p:cNvSpPr>
          <p:nvPr>
            <p:ph type="body" idx="1"/>
          </p:nvPr>
        </p:nvSpPr>
        <p:spPr>
          <a:xfrm>
            <a:off x="163286" y="914400"/>
            <a:ext cx="11190514" cy="5262563"/>
          </a:xfrm>
        </p:spPr>
        <p:txBody>
          <a:bodyPr>
            <a:normAutofit/>
          </a:bodyPr>
          <a:lstStyle/>
          <a:p>
            <a:pPr marL="114300" indent="0">
              <a:buNone/>
            </a:pPr>
            <a:r>
              <a:rPr lang="en-IN" dirty="0"/>
              <a:t>Q.</a:t>
            </a:r>
            <a:r>
              <a:rPr lang="en-US" dirty="0"/>
              <a:t> How many unique employees are currently in the system?</a:t>
            </a:r>
            <a:endParaRPr lang="en-IN" dirty="0"/>
          </a:p>
          <a:p>
            <a:pPr marL="114300" indent="0">
              <a:buNone/>
            </a:pPr>
            <a:endParaRPr lang="en-IN" dirty="0"/>
          </a:p>
          <a:p>
            <a:pPr marL="114300" indent="0">
              <a:buNone/>
            </a:pPr>
            <a:r>
              <a:rPr lang="en-IN" b="1" dirty="0"/>
              <a:t>Query :                                                    Output :        </a:t>
            </a:r>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r>
              <a:rPr lang="en-IN" b="1" dirty="0"/>
              <a:t>Key Insights :</a:t>
            </a:r>
          </a:p>
          <a:p>
            <a:pPr lvl="0"/>
            <a:r>
              <a:rPr lang="en-IN" sz="2000" b="1" dirty="0"/>
              <a:t>60 unique employees</a:t>
            </a:r>
            <a:r>
              <a:rPr lang="en-IN" sz="2000" dirty="0"/>
              <a:t> are currently present in the system. </a:t>
            </a:r>
          </a:p>
          <a:p>
            <a:pPr lvl="0"/>
            <a:r>
              <a:rPr lang="en-IN" sz="2000" dirty="0"/>
              <a:t>DISTINCT </a:t>
            </a:r>
            <a:r>
              <a:rPr lang="en-IN" sz="2000" dirty="0" err="1"/>
              <a:t>emp_ID</a:t>
            </a:r>
            <a:r>
              <a:rPr lang="en-IN" sz="2000" dirty="0"/>
              <a:t> ensures each employee is counted only once.</a:t>
            </a:r>
          </a:p>
          <a:p>
            <a:pPr marL="114300" indent="0">
              <a:buNone/>
            </a:pPr>
            <a:endParaRPr lang="en-IN" b="1" dirty="0"/>
          </a:p>
        </p:txBody>
      </p:sp>
      <p:pic>
        <p:nvPicPr>
          <p:cNvPr id="9" name="Picture 8">
            <a:extLst>
              <a:ext uri="{FF2B5EF4-FFF2-40B4-BE49-F238E27FC236}">
                <a16:creationId xmlns:a16="http://schemas.microsoft.com/office/drawing/2014/main" id="{650F1A77-C705-21F0-2AF3-FCAC3C31274D}"/>
              </a:ext>
            </a:extLst>
          </p:cNvPr>
          <p:cNvPicPr>
            <a:picLocks noChangeAspect="1"/>
          </p:cNvPicPr>
          <p:nvPr/>
        </p:nvPicPr>
        <p:blipFill>
          <a:blip r:embed="rId2"/>
          <a:stretch>
            <a:fillRect/>
          </a:stretch>
        </p:blipFill>
        <p:spPr>
          <a:xfrm>
            <a:off x="7086495" y="1981199"/>
            <a:ext cx="2423265" cy="1447799"/>
          </a:xfrm>
          <a:prstGeom prst="rect">
            <a:avLst/>
          </a:prstGeom>
        </p:spPr>
      </p:pic>
      <p:pic>
        <p:nvPicPr>
          <p:cNvPr id="5" name="Picture 4">
            <a:extLst>
              <a:ext uri="{FF2B5EF4-FFF2-40B4-BE49-F238E27FC236}">
                <a16:creationId xmlns:a16="http://schemas.microsoft.com/office/drawing/2014/main" id="{FC121F67-286F-907E-1ABA-2EA70A9AB869}"/>
              </a:ext>
            </a:extLst>
          </p:cNvPr>
          <p:cNvPicPr>
            <a:picLocks noChangeAspect="1"/>
          </p:cNvPicPr>
          <p:nvPr/>
        </p:nvPicPr>
        <p:blipFill>
          <a:blip r:embed="rId3"/>
          <a:stretch>
            <a:fillRect/>
          </a:stretch>
        </p:blipFill>
        <p:spPr>
          <a:xfrm>
            <a:off x="537039" y="2515462"/>
            <a:ext cx="3939881" cy="913537"/>
          </a:xfrm>
          <a:prstGeom prst="rect">
            <a:avLst/>
          </a:prstGeom>
        </p:spPr>
      </p:pic>
    </p:spTree>
    <p:extLst>
      <p:ext uri="{BB962C8B-B14F-4D97-AF65-F5344CB8AC3E}">
        <p14:creationId xmlns:p14="http://schemas.microsoft.com/office/powerpoint/2010/main" val="2753972131"/>
      </p:ext>
    </p:extLst>
  </p:cSld>
  <p:clrMapOvr>
    <a:masterClrMapping/>
  </p:clrMapOvr>
  <mc:AlternateContent xmlns:mc="http://schemas.openxmlformats.org/markup-compatibility/2006">
    <mc:Choice xmlns:p14="http://schemas.microsoft.com/office/powerpoint/2010/main" Requires="p14">
      <p:transition spd="slow" p14:dur="2000" advTm="45389"/>
    </mc:Choice>
    <mc:Fallback>
      <p:transition spd="slow" advTm="4538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E4E77-8823-916E-42DA-627B83E84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D9BB6-40E3-8561-E81F-BDB737FAD8F9}"/>
              </a:ext>
            </a:extLst>
          </p:cNvPr>
          <p:cNvSpPr>
            <a:spLocks noGrp="1"/>
          </p:cNvSpPr>
          <p:nvPr>
            <p:ph type="title"/>
          </p:nvPr>
        </p:nvSpPr>
        <p:spPr>
          <a:xfrm>
            <a:off x="0" y="18255"/>
            <a:ext cx="10515600" cy="896145"/>
          </a:xfrm>
        </p:spPr>
        <p:txBody>
          <a:bodyPr>
            <a:normAutofit/>
          </a:bodyPr>
          <a:lstStyle/>
          <a:p>
            <a:r>
              <a:rPr lang="en-IN" sz="4000" b="1" dirty="0"/>
              <a:t>EMPLOYEE INSIGHTS:</a:t>
            </a:r>
          </a:p>
        </p:txBody>
      </p:sp>
      <p:sp>
        <p:nvSpPr>
          <p:cNvPr id="3" name="Text Placeholder 2">
            <a:extLst>
              <a:ext uri="{FF2B5EF4-FFF2-40B4-BE49-F238E27FC236}">
                <a16:creationId xmlns:a16="http://schemas.microsoft.com/office/drawing/2014/main" id="{3563D89D-382B-6848-42A9-3AF0B504D7B0}"/>
              </a:ext>
            </a:extLst>
          </p:cNvPr>
          <p:cNvSpPr>
            <a:spLocks noGrp="1"/>
          </p:cNvSpPr>
          <p:nvPr>
            <p:ph type="body" idx="1"/>
          </p:nvPr>
        </p:nvSpPr>
        <p:spPr>
          <a:xfrm>
            <a:off x="163286" y="914400"/>
            <a:ext cx="11190514" cy="5262563"/>
          </a:xfrm>
        </p:spPr>
        <p:txBody>
          <a:bodyPr>
            <a:normAutofit/>
          </a:bodyPr>
          <a:lstStyle/>
          <a:p>
            <a:pPr marL="114300" indent="0">
              <a:buNone/>
            </a:pPr>
            <a:r>
              <a:rPr lang="en-IN" dirty="0"/>
              <a:t>Q. </a:t>
            </a:r>
            <a:r>
              <a:rPr lang="en-US" dirty="0"/>
              <a:t>Which departments have the highest number of employees?</a:t>
            </a:r>
            <a:endParaRPr lang="en-IN" dirty="0"/>
          </a:p>
          <a:p>
            <a:pPr marL="114300" indent="0">
              <a:buNone/>
            </a:pPr>
            <a:r>
              <a:rPr lang="en-IN" b="1" dirty="0"/>
              <a:t>Query :                                                           Output :        </a:t>
            </a:r>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b="1" dirty="0"/>
          </a:p>
          <a:p>
            <a:pPr marL="114300" indent="0">
              <a:buNone/>
            </a:pPr>
            <a:r>
              <a:rPr lang="en-IN" b="1" dirty="0"/>
              <a:t>Key Insights :</a:t>
            </a:r>
          </a:p>
          <a:p>
            <a:pPr lvl="0" algn="just"/>
            <a:r>
              <a:rPr lang="en-IN" sz="2000" dirty="0"/>
              <a:t>Finance and IT have the highest workforce with 9 employees each, while Operations and Marketing have 8 each. </a:t>
            </a:r>
          </a:p>
          <a:p>
            <a:pPr lvl="0" algn="just"/>
            <a:r>
              <a:rPr lang="en-IN" sz="2000" dirty="0"/>
              <a:t>Engineering, Sales, HR, and Legal have 7, 7, 7, and 5 employees respectively, showing a fairly balanced distribution.</a:t>
            </a:r>
          </a:p>
          <a:p>
            <a:pPr marL="114300" indent="0">
              <a:buNone/>
            </a:pPr>
            <a:endParaRPr lang="en-IN" b="1" dirty="0"/>
          </a:p>
        </p:txBody>
      </p:sp>
      <p:pic>
        <p:nvPicPr>
          <p:cNvPr id="8" name="Picture 7">
            <a:extLst>
              <a:ext uri="{FF2B5EF4-FFF2-40B4-BE49-F238E27FC236}">
                <a16:creationId xmlns:a16="http://schemas.microsoft.com/office/drawing/2014/main" id="{E50F6B46-63B2-D215-5EB4-BADA50E121F2}"/>
              </a:ext>
            </a:extLst>
          </p:cNvPr>
          <p:cNvPicPr>
            <a:picLocks noChangeAspect="1"/>
          </p:cNvPicPr>
          <p:nvPr/>
        </p:nvPicPr>
        <p:blipFill>
          <a:blip r:embed="rId2"/>
          <a:stretch>
            <a:fillRect/>
          </a:stretch>
        </p:blipFill>
        <p:spPr>
          <a:xfrm>
            <a:off x="1017550" y="1959337"/>
            <a:ext cx="4322618" cy="2130882"/>
          </a:xfrm>
          <a:prstGeom prst="rect">
            <a:avLst/>
          </a:prstGeom>
        </p:spPr>
      </p:pic>
      <p:pic>
        <p:nvPicPr>
          <p:cNvPr id="11" name="Picture 10">
            <a:extLst>
              <a:ext uri="{FF2B5EF4-FFF2-40B4-BE49-F238E27FC236}">
                <a16:creationId xmlns:a16="http://schemas.microsoft.com/office/drawing/2014/main" id="{C9E43A60-EA81-3415-D6FA-FF2B9E398483}"/>
              </a:ext>
            </a:extLst>
          </p:cNvPr>
          <p:cNvPicPr>
            <a:picLocks noChangeAspect="1"/>
          </p:cNvPicPr>
          <p:nvPr/>
        </p:nvPicPr>
        <p:blipFill>
          <a:blip r:embed="rId3"/>
          <a:stretch>
            <a:fillRect/>
          </a:stretch>
        </p:blipFill>
        <p:spPr>
          <a:xfrm>
            <a:off x="7773849" y="1554237"/>
            <a:ext cx="2363522" cy="2785007"/>
          </a:xfrm>
          <a:prstGeom prst="rect">
            <a:avLst/>
          </a:prstGeom>
        </p:spPr>
      </p:pic>
    </p:spTree>
    <p:extLst>
      <p:ext uri="{BB962C8B-B14F-4D97-AF65-F5344CB8AC3E}">
        <p14:creationId xmlns:p14="http://schemas.microsoft.com/office/powerpoint/2010/main" val="3134996476"/>
      </p:ext>
    </p:extLst>
  </p:cSld>
  <p:clrMapOvr>
    <a:masterClrMapping/>
  </p:clrMapOvr>
  <mc:AlternateContent xmlns:mc="http://schemas.openxmlformats.org/markup-compatibility/2006">
    <mc:Choice xmlns:p14="http://schemas.microsoft.com/office/powerpoint/2010/main" Requires="p14">
      <p:transition spd="slow" p14:dur="2000" advTm="48566"/>
    </mc:Choice>
    <mc:Fallback>
      <p:transition spd="slow" advTm="4856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025EE-7B96-C463-839C-FB3AAAF57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93C72-DBEF-B0B0-21A6-4006D4D561AE}"/>
              </a:ext>
            </a:extLst>
          </p:cNvPr>
          <p:cNvSpPr>
            <a:spLocks noGrp="1"/>
          </p:cNvSpPr>
          <p:nvPr>
            <p:ph type="title"/>
          </p:nvPr>
        </p:nvSpPr>
        <p:spPr>
          <a:xfrm>
            <a:off x="0" y="18255"/>
            <a:ext cx="10515600" cy="896145"/>
          </a:xfrm>
        </p:spPr>
        <p:txBody>
          <a:bodyPr>
            <a:normAutofit/>
          </a:bodyPr>
          <a:lstStyle/>
          <a:p>
            <a:r>
              <a:rPr lang="en-IN" sz="4000" b="1" dirty="0"/>
              <a:t> </a:t>
            </a:r>
            <a:r>
              <a:rPr lang="en-US" sz="4000" b="1" dirty="0"/>
              <a:t>JOB ROLE AND DEPARTMENT ANALYSIS:</a:t>
            </a:r>
            <a:endParaRPr lang="en-IN" sz="4000" b="1" dirty="0"/>
          </a:p>
        </p:txBody>
      </p:sp>
      <p:sp>
        <p:nvSpPr>
          <p:cNvPr id="3" name="Text Placeholder 2">
            <a:extLst>
              <a:ext uri="{FF2B5EF4-FFF2-40B4-BE49-F238E27FC236}">
                <a16:creationId xmlns:a16="http://schemas.microsoft.com/office/drawing/2014/main" id="{F2AE651F-2128-CB7E-7A3F-0B8B40EF29B3}"/>
              </a:ext>
            </a:extLst>
          </p:cNvPr>
          <p:cNvSpPr>
            <a:spLocks noGrp="1"/>
          </p:cNvSpPr>
          <p:nvPr>
            <p:ph type="body" idx="1"/>
          </p:nvPr>
        </p:nvSpPr>
        <p:spPr>
          <a:xfrm>
            <a:off x="163285" y="914400"/>
            <a:ext cx="11854543" cy="5262563"/>
          </a:xfrm>
        </p:spPr>
        <p:txBody>
          <a:bodyPr>
            <a:normAutofit/>
          </a:bodyPr>
          <a:lstStyle/>
          <a:p>
            <a:pPr marL="114300" indent="0">
              <a:buNone/>
            </a:pPr>
            <a:r>
              <a:rPr lang="en-IN" dirty="0"/>
              <a:t>Q. </a:t>
            </a:r>
            <a:r>
              <a:rPr lang="en-US" dirty="0"/>
              <a:t>How many different job roles exist in each department?</a:t>
            </a:r>
          </a:p>
          <a:p>
            <a:pPr marL="114300" indent="0">
              <a:buNone/>
            </a:pPr>
            <a:r>
              <a:rPr lang="en-IN" b="1" dirty="0"/>
              <a:t>Query :                                                          Output :        </a:t>
            </a:r>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b="1" dirty="0"/>
          </a:p>
          <a:p>
            <a:pPr marL="114300" indent="0">
              <a:buNone/>
            </a:pPr>
            <a:endParaRPr lang="en-IN" b="1" dirty="0"/>
          </a:p>
          <a:p>
            <a:pPr marL="114300" indent="0">
              <a:buNone/>
            </a:pPr>
            <a:r>
              <a:rPr lang="en-IN" b="1" dirty="0"/>
              <a:t>Key Insights :</a:t>
            </a:r>
          </a:p>
          <a:p>
            <a:pPr lvl="0"/>
            <a:r>
              <a:rPr lang="en-IN" sz="2000" dirty="0"/>
              <a:t>Finance has the highest number of job roles with 9 roles, followed by IT and Operations with 8 each. </a:t>
            </a:r>
          </a:p>
          <a:p>
            <a:pPr lvl="0"/>
            <a:r>
              <a:rPr lang="en-IN" sz="2000" dirty="0"/>
              <a:t>Engineering, HR, Marketing, and Sales have 7 roles each, while Legal has the lowest with 5 roles.</a:t>
            </a:r>
          </a:p>
          <a:p>
            <a:endParaRPr lang="en-IN" sz="2000" dirty="0"/>
          </a:p>
        </p:txBody>
      </p:sp>
      <p:pic>
        <p:nvPicPr>
          <p:cNvPr id="5" name="Picture 4">
            <a:extLst>
              <a:ext uri="{FF2B5EF4-FFF2-40B4-BE49-F238E27FC236}">
                <a16:creationId xmlns:a16="http://schemas.microsoft.com/office/drawing/2014/main" id="{D3B19B56-2818-40C9-AEA5-289DD1E848F7}"/>
              </a:ext>
            </a:extLst>
          </p:cNvPr>
          <p:cNvPicPr>
            <a:picLocks noChangeAspect="1"/>
          </p:cNvPicPr>
          <p:nvPr/>
        </p:nvPicPr>
        <p:blipFill>
          <a:blip r:embed="rId2"/>
          <a:stretch>
            <a:fillRect/>
          </a:stretch>
        </p:blipFill>
        <p:spPr>
          <a:xfrm>
            <a:off x="740870" y="2346313"/>
            <a:ext cx="5089659" cy="1793068"/>
          </a:xfrm>
          <a:prstGeom prst="rect">
            <a:avLst/>
          </a:prstGeom>
        </p:spPr>
      </p:pic>
      <p:pic>
        <p:nvPicPr>
          <p:cNvPr id="8" name="Picture 7">
            <a:extLst>
              <a:ext uri="{FF2B5EF4-FFF2-40B4-BE49-F238E27FC236}">
                <a16:creationId xmlns:a16="http://schemas.microsoft.com/office/drawing/2014/main" id="{849A6192-38CF-0E43-F65E-2B6DE5982966}"/>
              </a:ext>
            </a:extLst>
          </p:cNvPr>
          <p:cNvPicPr>
            <a:picLocks noChangeAspect="1"/>
          </p:cNvPicPr>
          <p:nvPr/>
        </p:nvPicPr>
        <p:blipFill>
          <a:blip r:embed="rId3"/>
          <a:stretch>
            <a:fillRect/>
          </a:stretch>
        </p:blipFill>
        <p:spPr>
          <a:xfrm>
            <a:off x="6580826" y="2106435"/>
            <a:ext cx="1562235" cy="2645129"/>
          </a:xfrm>
          <a:prstGeom prst="rect">
            <a:avLst/>
          </a:prstGeom>
        </p:spPr>
      </p:pic>
    </p:spTree>
    <p:extLst>
      <p:ext uri="{BB962C8B-B14F-4D97-AF65-F5344CB8AC3E}">
        <p14:creationId xmlns:p14="http://schemas.microsoft.com/office/powerpoint/2010/main" val="2810702883"/>
      </p:ext>
    </p:extLst>
  </p:cSld>
  <p:clrMapOvr>
    <a:masterClrMapping/>
  </p:clrMapOvr>
  <mc:AlternateContent xmlns:mc="http://schemas.openxmlformats.org/markup-compatibility/2006">
    <mc:Choice xmlns:p14="http://schemas.microsoft.com/office/powerpoint/2010/main" Requires="p14">
      <p:transition spd="slow" p14:dur="2000" advTm="44840"/>
    </mc:Choice>
    <mc:Fallback>
      <p:transition spd="slow" advTm="4484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DFE37-D0B3-C8A4-F04D-B42C40A60056}"/>
              </a:ext>
            </a:extLst>
          </p:cNvPr>
          <p:cNvSpPr>
            <a:spLocks noGrp="1"/>
          </p:cNvSpPr>
          <p:nvPr>
            <p:ph type="title"/>
          </p:nvPr>
        </p:nvSpPr>
        <p:spPr>
          <a:xfrm>
            <a:off x="0" y="18255"/>
            <a:ext cx="10515600" cy="1325563"/>
          </a:xfrm>
        </p:spPr>
        <p:txBody>
          <a:bodyPr/>
          <a:lstStyle/>
          <a:p>
            <a:r>
              <a:rPr lang="en-IN" b="1" dirty="0"/>
              <a:t> </a:t>
            </a:r>
            <a:r>
              <a:rPr lang="en-US" b="1" dirty="0"/>
              <a:t>JOB ROLE AND DEPARTMENT ANALYSIS:</a:t>
            </a:r>
            <a:endParaRPr lang="en-IN" dirty="0"/>
          </a:p>
        </p:txBody>
      </p:sp>
      <p:sp>
        <p:nvSpPr>
          <p:cNvPr id="3" name="Text Placeholder 2">
            <a:extLst>
              <a:ext uri="{FF2B5EF4-FFF2-40B4-BE49-F238E27FC236}">
                <a16:creationId xmlns:a16="http://schemas.microsoft.com/office/drawing/2014/main" id="{89E0C513-8BB4-19E7-4F13-26DB89945CD4}"/>
              </a:ext>
            </a:extLst>
          </p:cNvPr>
          <p:cNvSpPr>
            <a:spLocks noGrp="1"/>
          </p:cNvSpPr>
          <p:nvPr>
            <p:ph type="body" idx="1"/>
          </p:nvPr>
        </p:nvSpPr>
        <p:spPr>
          <a:xfrm>
            <a:off x="169605" y="1510992"/>
            <a:ext cx="11737259" cy="4673497"/>
          </a:xfrm>
        </p:spPr>
        <p:txBody>
          <a:bodyPr>
            <a:normAutofit fontScale="92500" lnSpcReduction="10000"/>
          </a:bodyPr>
          <a:lstStyle/>
          <a:p>
            <a:pPr marL="114300" indent="0">
              <a:buNone/>
            </a:pPr>
            <a:r>
              <a:rPr lang="en-IN" dirty="0"/>
              <a:t>Q. </a:t>
            </a:r>
            <a:r>
              <a:rPr lang="en-US" dirty="0"/>
              <a:t>Which job roles offer the highest salary?</a:t>
            </a:r>
            <a:endParaRPr lang="en-IN" dirty="0"/>
          </a:p>
          <a:p>
            <a:pPr marL="114300" indent="0">
              <a:buNone/>
            </a:pPr>
            <a:r>
              <a:rPr lang="en-IN" b="1" dirty="0"/>
              <a:t>Query :                                                           Output :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b="1" dirty="0"/>
              <a:t>Key Insights :</a:t>
            </a:r>
          </a:p>
          <a:p>
            <a:pPr lvl="0"/>
            <a:r>
              <a:rPr lang="en-IN" sz="2200" dirty="0"/>
              <a:t>Finance Director offers the highest salary at 170,000, followed by Engineering Director at 160,000. </a:t>
            </a:r>
          </a:p>
          <a:p>
            <a:pPr lvl="0"/>
            <a:r>
              <a:rPr lang="en-IN" sz="2200" dirty="0"/>
              <a:t>Marketing Director and IT Director offer 150,000 each, while Sales Director ranks fifth at 140,000.</a:t>
            </a:r>
          </a:p>
          <a:p>
            <a:endParaRPr lang="en-IN" dirty="0"/>
          </a:p>
        </p:txBody>
      </p:sp>
      <p:pic>
        <p:nvPicPr>
          <p:cNvPr id="5" name="Picture 4">
            <a:extLst>
              <a:ext uri="{FF2B5EF4-FFF2-40B4-BE49-F238E27FC236}">
                <a16:creationId xmlns:a16="http://schemas.microsoft.com/office/drawing/2014/main" id="{0F049724-B906-E427-9978-3618AB6BCED6}"/>
              </a:ext>
            </a:extLst>
          </p:cNvPr>
          <p:cNvPicPr>
            <a:picLocks noChangeAspect="1"/>
          </p:cNvPicPr>
          <p:nvPr/>
        </p:nvPicPr>
        <p:blipFill>
          <a:blip r:embed="rId2"/>
          <a:stretch>
            <a:fillRect/>
          </a:stretch>
        </p:blipFill>
        <p:spPr>
          <a:xfrm>
            <a:off x="883838" y="2700196"/>
            <a:ext cx="4945790" cy="1457607"/>
          </a:xfrm>
          <a:prstGeom prst="rect">
            <a:avLst/>
          </a:prstGeom>
        </p:spPr>
      </p:pic>
      <p:pic>
        <p:nvPicPr>
          <p:cNvPr id="7" name="Picture 6">
            <a:extLst>
              <a:ext uri="{FF2B5EF4-FFF2-40B4-BE49-F238E27FC236}">
                <a16:creationId xmlns:a16="http://schemas.microsoft.com/office/drawing/2014/main" id="{5F6ED043-563D-3133-43CA-942FD0BC6B20}"/>
              </a:ext>
            </a:extLst>
          </p:cNvPr>
          <p:cNvPicPr>
            <a:picLocks noChangeAspect="1"/>
          </p:cNvPicPr>
          <p:nvPr/>
        </p:nvPicPr>
        <p:blipFill>
          <a:blip r:embed="rId3"/>
          <a:stretch>
            <a:fillRect/>
          </a:stretch>
        </p:blipFill>
        <p:spPr>
          <a:xfrm>
            <a:off x="6096000" y="2543125"/>
            <a:ext cx="3490452" cy="2156694"/>
          </a:xfrm>
          <a:prstGeom prst="rect">
            <a:avLst/>
          </a:prstGeom>
        </p:spPr>
      </p:pic>
    </p:spTree>
    <p:extLst>
      <p:ext uri="{BB962C8B-B14F-4D97-AF65-F5344CB8AC3E}">
        <p14:creationId xmlns:p14="http://schemas.microsoft.com/office/powerpoint/2010/main" val="3837949189"/>
      </p:ext>
    </p:extLst>
  </p:cSld>
  <p:clrMapOvr>
    <a:masterClrMapping/>
  </p:clrMapOvr>
  <mc:AlternateContent xmlns:mc="http://schemas.openxmlformats.org/markup-compatibility/2006">
    <mc:Choice xmlns:p14="http://schemas.microsoft.com/office/powerpoint/2010/main" Requires="p14">
      <p:transition spd="slow" p14:dur="2000" advTm="47638"/>
    </mc:Choice>
    <mc:Fallback>
      <p:transition spd="slow" advTm="4763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20CE-FD9C-8051-9F64-1CA0E790887F}"/>
              </a:ext>
            </a:extLst>
          </p:cNvPr>
          <p:cNvSpPr>
            <a:spLocks noGrp="1"/>
          </p:cNvSpPr>
          <p:nvPr>
            <p:ph type="title"/>
          </p:nvPr>
        </p:nvSpPr>
        <p:spPr>
          <a:xfrm>
            <a:off x="0" y="25565"/>
            <a:ext cx="10515600" cy="1325563"/>
          </a:xfrm>
        </p:spPr>
        <p:txBody>
          <a:bodyPr/>
          <a:lstStyle/>
          <a:p>
            <a:r>
              <a:rPr lang="en-IN" b="1" dirty="0"/>
              <a:t> </a:t>
            </a:r>
            <a:r>
              <a:rPr lang="en-US" b="1" dirty="0"/>
              <a:t>JOB ROLE AND DEPARTMENT ANALYSIS:</a:t>
            </a:r>
            <a:endParaRPr lang="en-IN" dirty="0"/>
          </a:p>
        </p:txBody>
      </p:sp>
      <p:sp>
        <p:nvSpPr>
          <p:cNvPr id="3" name="Text Placeholder 2">
            <a:extLst>
              <a:ext uri="{FF2B5EF4-FFF2-40B4-BE49-F238E27FC236}">
                <a16:creationId xmlns:a16="http://schemas.microsoft.com/office/drawing/2014/main" id="{D983A531-BDDE-EA9E-B09B-E7414B4EDA3B}"/>
              </a:ext>
            </a:extLst>
          </p:cNvPr>
          <p:cNvSpPr>
            <a:spLocks noGrp="1"/>
          </p:cNvSpPr>
          <p:nvPr>
            <p:ph type="body" idx="1"/>
          </p:nvPr>
        </p:nvSpPr>
        <p:spPr/>
        <p:txBody>
          <a:bodyPr>
            <a:normAutofit fontScale="85000" lnSpcReduction="20000"/>
          </a:bodyPr>
          <a:lstStyle/>
          <a:p>
            <a:pPr marL="114300" indent="0">
              <a:buNone/>
            </a:pPr>
            <a:r>
              <a:rPr lang="en-IN" dirty="0"/>
              <a:t>Q. </a:t>
            </a:r>
            <a:r>
              <a:rPr lang="en-US" dirty="0"/>
              <a:t>Which departments have the highest total salary allocation?</a:t>
            </a:r>
            <a:endParaRPr lang="en-IN" dirty="0"/>
          </a:p>
          <a:p>
            <a:pPr marL="114300" indent="0">
              <a:buNone/>
            </a:pPr>
            <a:r>
              <a:rPr lang="en-IN" b="1" dirty="0"/>
              <a:t>Query :                                                           Output :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b="1" dirty="0"/>
              <a:t>Key Insights :</a:t>
            </a:r>
          </a:p>
          <a:p>
            <a:pPr lvl="0"/>
            <a:r>
              <a:rPr lang="en-IN" sz="2200" dirty="0"/>
              <a:t>Finance has the highest total salary allocation at 651,000, followed by IT at 638,000 and Engineering at 568,000. </a:t>
            </a:r>
          </a:p>
          <a:p>
            <a:pPr lvl="0"/>
            <a:r>
              <a:rPr lang="en-IN" sz="2200" dirty="0"/>
              <a:t>Operations, Sales, and Marketing have 550,000, 528,000, and 525,000, while Legal and HR have the lowest allocations at 423,000 and 438,000. </a:t>
            </a:r>
          </a:p>
          <a:p>
            <a:endParaRPr lang="en-IN" sz="2200" dirty="0"/>
          </a:p>
          <a:p>
            <a:endParaRPr lang="en-IN" dirty="0"/>
          </a:p>
        </p:txBody>
      </p:sp>
      <p:pic>
        <p:nvPicPr>
          <p:cNvPr id="5" name="Picture 4">
            <a:extLst>
              <a:ext uri="{FF2B5EF4-FFF2-40B4-BE49-F238E27FC236}">
                <a16:creationId xmlns:a16="http://schemas.microsoft.com/office/drawing/2014/main" id="{AB147656-D57A-A655-9E63-CCA48F8ABDD7}"/>
              </a:ext>
            </a:extLst>
          </p:cNvPr>
          <p:cNvPicPr>
            <a:picLocks noChangeAspect="1"/>
          </p:cNvPicPr>
          <p:nvPr/>
        </p:nvPicPr>
        <p:blipFill>
          <a:blip r:embed="rId2"/>
          <a:stretch>
            <a:fillRect/>
          </a:stretch>
        </p:blipFill>
        <p:spPr>
          <a:xfrm>
            <a:off x="986579" y="2774618"/>
            <a:ext cx="4854361" cy="1623201"/>
          </a:xfrm>
          <a:prstGeom prst="rect">
            <a:avLst/>
          </a:prstGeom>
        </p:spPr>
      </p:pic>
      <p:pic>
        <p:nvPicPr>
          <p:cNvPr id="7" name="Picture 6">
            <a:extLst>
              <a:ext uri="{FF2B5EF4-FFF2-40B4-BE49-F238E27FC236}">
                <a16:creationId xmlns:a16="http://schemas.microsoft.com/office/drawing/2014/main" id="{1F5C0FF7-D0CB-E1A0-5E27-144F2298A19F}"/>
              </a:ext>
            </a:extLst>
          </p:cNvPr>
          <p:cNvPicPr>
            <a:picLocks noChangeAspect="1"/>
          </p:cNvPicPr>
          <p:nvPr/>
        </p:nvPicPr>
        <p:blipFill>
          <a:blip r:embed="rId3"/>
          <a:stretch>
            <a:fillRect/>
          </a:stretch>
        </p:blipFill>
        <p:spPr>
          <a:xfrm>
            <a:off x="7151278" y="2378093"/>
            <a:ext cx="2126164" cy="2251780"/>
          </a:xfrm>
          <a:prstGeom prst="rect">
            <a:avLst/>
          </a:prstGeom>
        </p:spPr>
      </p:pic>
    </p:spTree>
    <p:extLst>
      <p:ext uri="{BB962C8B-B14F-4D97-AF65-F5344CB8AC3E}">
        <p14:creationId xmlns:p14="http://schemas.microsoft.com/office/powerpoint/2010/main" val="1646270619"/>
      </p:ext>
    </p:extLst>
  </p:cSld>
  <p:clrMapOvr>
    <a:masterClrMapping/>
  </p:clrMapOvr>
  <mc:AlternateContent xmlns:mc="http://schemas.openxmlformats.org/markup-compatibility/2006">
    <mc:Choice xmlns:p14="http://schemas.microsoft.com/office/powerpoint/2010/main" Requires="p14">
      <p:transition spd="slow" p14:dur="2000" advTm="42162"/>
    </mc:Choice>
    <mc:Fallback>
      <p:transition spd="slow" advTm="4216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70D8F-65A8-2DC1-9357-C0D8648FC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00375E-1172-7CB4-8F38-E54FF4CA1755}"/>
              </a:ext>
            </a:extLst>
          </p:cNvPr>
          <p:cNvSpPr>
            <a:spLocks noGrp="1"/>
          </p:cNvSpPr>
          <p:nvPr>
            <p:ph type="title"/>
          </p:nvPr>
        </p:nvSpPr>
        <p:spPr>
          <a:xfrm>
            <a:off x="0" y="18255"/>
            <a:ext cx="10515600" cy="896145"/>
          </a:xfrm>
        </p:spPr>
        <p:txBody>
          <a:bodyPr>
            <a:normAutofit/>
          </a:bodyPr>
          <a:lstStyle/>
          <a:p>
            <a:r>
              <a:rPr lang="en-IN" sz="4000" b="1" dirty="0"/>
              <a:t>QUALIFICATION AND SKILLS ANALYSIS:</a:t>
            </a:r>
          </a:p>
        </p:txBody>
      </p:sp>
      <p:sp>
        <p:nvSpPr>
          <p:cNvPr id="3" name="Text Placeholder 2">
            <a:extLst>
              <a:ext uri="{FF2B5EF4-FFF2-40B4-BE49-F238E27FC236}">
                <a16:creationId xmlns:a16="http://schemas.microsoft.com/office/drawing/2014/main" id="{9A4F141E-D97E-763D-CA63-A93BD81D7C92}"/>
              </a:ext>
            </a:extLst>
          </p:cNvPr>
          <p:cNvSpPr>
            <a:spLocks noGrp="1"/>
          </p:cNvSpPr>
          <p:nvPr>
            <p:ph type="body" idx="1"/>
          </p:nvPr>
        </p:nvSpPr>
        <p:spPr>
          <a:xfrm>
            <a:off x="163286" y="914400"/>
            <a:ext cx="11190514" cy="5262563"/>
          </a:xfrm>
        </p:spPr>
        <p:txBody>
          <a:bodyPr/>
          <a:lstStyle/>
          <a:p>
            <a:pPr marL="114300" indent="0">
              <a:buNone/>
            </a:pPr>
            <a:r>
              <a:rPr lang="en-IN" dirty="0"/>
              <a:t>Q.</a:t>
            </a:r>
            <a:r>
              <a:rPr lang="en-US" dirty="0"/>
              <a:t> How many employees have at least one qualification listed?</a:t>
            </a:r>
            <a:endParaRPr lang="en-IN" dirty="0"/>
          </a:p>
          <a:p>
            <a:pPr marL="114300" indent="0">
              <a:buNone/>
            </a:pPr>
            <a:r>
              <a:rPr lang="en-IN" b="1" dirty="0"/>
              <a:t>Query :                                                           Output :        </a:t>
            </a:r>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r>
              <a:rPr lang="en-IN" b="1" dirty="0"/>
              <a:t>Key Insights :</a:t>
            </a:r>
          </a:p>
          <a:p>
            <a:pPr lvl="0"/>
            <a:r>
              <a:rPr lang="en-IN" sz="2000" dirty="0"/>
              <a:t>All 60 employees have at least one qualification listed in the system. </a:t>
            </a:r>
          </a:p>
          <a:p>
            <a:pPr lvl="0"/>
            <a:r>
              <a:rPr lang="en-IN" sz="2000" dirty="0"/>
              <a:t>This means 100% of the employees have qualification records. </a:t>
            </a:r>
          </a:p>
          <a:p>
            <a:pPr marL="114300" indent="0">
              <a:buNone/>
            </a:pPr>
            <a:endParaRPr lang="en-IN" dirty="0"/>
          </a:p>
        </p:txBody>
      </p:sp>
      <p:pic>
        <p:nvPicPr>
          <p:cNvPr id="6" name="Picture 5">
            <a:extLst>
              <a:ext uri="{FF2B5EF4-FFF2-40B4-BE49-F238E27FC236}">
                <a16:creationId xmlns:a16="http://schemas.microsoft.com/office/drawing/2014/main" id="{2E649C7B-D498-25C1-E80C-56A854D544F9}"/>
              </a:ext>
            </a:extLst>
          </p:cNvPr>
          <p:cNvPicPr>
            <a:picLocks noChangeAspect="1"/>
          </p:cNvPicPr>
          <p:nvPr/>
        </p:nvPicPr>
        <p:blipFill>
          <a:blip r:embed="rId2"/>
          <a:stretch>
            <a:fillRect/>
          </a:stretch>
        </p:blipFill>
        <p:spPr>
          <a:xfrm>
            <a:off x="464636" y="2164170"/>
            <a:ext cx="5021763" cy="1264830"/>
          </a:xfrm>
          <a:prstGeom prst="rect">
            <a:avLst/>
          </a:prstGeom>
        </p:spPr>
      </p:pic>
      <p:pic>
        <p:nvPicPr>
          <p:cNvPr id="9" name="Picture 8">
            <a:extLst>
              <a:ext uri="{FF2B5EF4-FFF2-40B4-BE49-F238E27FC236}">
                <a16:creationId xmlns:a16="http://schemas.microsoft.com/office/drawing/2014/main" id="{55DEC202-6365-CF49-AB3C-DD16DAFF0267}"/>
              </a:ext>
            </a:extLst>
          </p:cNvPr>
          <p:cNvPicPr>
            <a:picLocks noChangeAspect="1"/>
          </p:cNvPicPr>
          <p:nvPr/>
        </p:nvPicPr>
        <p:blipFill>
          <a:blip r:embed="rId3"/>
          <a:stretch>
            <a:fillRect/>
          </a:stretch>
        </p:blipFill>
        <p:spPr>
          <a:xfrm>
            <a:off x="7535999" y="1604787"/>
            <a:ext cx="2110923" cy="1161562"/>
          </a:xfrm>
          <a:prstGeom prst="rect">
            <a:avLst/>
          </a:prstGeom>
        </p:spPr>
      </p:pic>
    </p:spTree>
    <p:extLst>
      <p:ext uri="{BB962C8B-B14F-4D97-AF65-F5344CB8AC3E}">
        <p14:creationId xmlns:p14="http://schemas.microsoft.com/office/powerpoint/2010/main" val="2431592159"/>
      </p:ext>
    </p:extLst>
  </p:cSld>
  <p:clrMapOvr>
    <a:masterClrMapping/>
  </p:clrMapOvr>
  <mc:AlternateContent xmlns:mc="http://schemas.openxmlformats.org/markup-compatibility/2006">
    <mc:Choice xmlns:p14="http://schemas.microsoft.com/office/powerpoint/2010/main" Requires="p14">
      <p:transition spd="slow" p14:dur="2000" advTm="39543"/>
    </mc:Choice>
    <mc:Fallback>
      <p:transition spd="slow" advTm="3954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C091-590F-394B-8486-9EBA55E45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5A7BB-3003-CCE2-023C-0BB3B4917D35}"/>
              </a:ext>
            </a:extLst>
          </p:cNvPr>
          <p:cNvSpPr>
            <a:spLocks noGrp="1"/>
          </p:cNvSpPr>
          <p:nvPr>
            <p:ph type="title"/>
          </p:nvPr>
        </p:nvSpPr>
        <p:spPr>
          <a:xfrm>
            <a:off x="0" y="18255"/>
            <a:ext cx="10515600" cy="896145"/>
          </a:xfrm>
        </p:spPr>
        <p:txBody>
          <a:bodyPr>
            <a:normAutofit/>
          </a:bodyPr>
          <a:lstStyle/>
          <a:p>
            <a:r>
              <a:rPr lang="en-IN" sz="4000" b="1" dirty="0"/>
              <a:t>QUALIFICATION AND SKILLS ANALYSIS:</a:t>
            </a:r>
          </a:p>
        </p:txBody>
      </p:sp>
      <p:sp>
        <p:nvSpPr>
          <p:cNvPr id="3" name="Text Placeholder 2">
            <a:extLst>
              <a:ext uri="{FF2B5EF4-FFF2-40B4-BE49-F238E27FC236}">
                <a16:creationId xmlns:a16="http://schemas.microsoft.com/office/drawing/2014/main" id="{54F08663-C8EF-2BE5-0AAA-A7958AB20A6E}"/>
              </a:ext>
            </a:extLst>
          </p:cNvPr>
          <p:cNvSpPr>
            <a:spLocks noGrp="1"/>
          </p:cNvSpPr>
          <p:nvPr>
            <p:ph type="body" idx="1"/>
          </p:nvPr>
        </p:nvSpPr>
        <p:spPr>
          <a:xfrm>
            <a:off x="163286" y="914400"/>
            <a:ext cx="11190514" cy="5262563"/>
          </a:xfrm>
        </p:spPr>
        <p:txBody>
          <a:bodyPr>
            <a:normAutofit/>
          </a:bodyPr>
          <a:lstStyle/>
          <a:p>
            <a:pPr marL="114300" indent="0">
              <a:buNone/>
            </a:pPr>
            <a:r>
              <a:rPr lang="en-IN" dirty="0"/>
              <a:t>Q.</a:t>
            </a:r>
            <a:r>
              <a:rPr lang="en-US" dirty="0"/>
              <a:t> Which positions require the most qualifications?</a:t>
            </a:r>
            <a:endParaRPr lang="en-IN" dirty="0"/>
          </a:p>
          <a:p>
            <a:pPr marL="114300" indent="0">
              <a:buNone/>
            </a:pPr>
            <a:r>
              <a:rPr lang="en-IN" b="1" dirty="0"/>
              <a:t>Query :                                                          Output :        </a:t>
            </a:r>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b="1" dirty="0"/>
          </a:p>
          <a:p>
            <a:pPr marL="114300" indent="0">
              <a:buNone/>
            </a:pPr>
            <a:r>
              <a:rPr lang="en-IN" b="1" dirty="0"/>
              <a:t>Key Insights :</a:t>
            </a:r>
            <a:endParaRPr lang="en-IN" sz="2000" b="1" dirty="0"/>
          </a:p>
          <a:p>
            <a:pPr lvl="0" algn="just"/>
            <a:r>
              <a:rPr lang="en-IN" sz="2000" b="1" dirty="0"/>
              <a:t>All listed positions have 1 qualification each</a:t>
            </a:r>
            <a:r>
              <a:rPr lang="en-IN" sz="2000" dirty="0"/>
              <a:t>, so no position requires more qualifications than another. </a:t>
            </a:r>
          </a:p>
          <a:p>
            <a:pPr lvl="0" algn="just"/>
            <a:r>
              <a:rPr lang="en-IN" sz="2000" dirty="0"/>
              <a:t>The qualification requirement is therefore </a:t>
            </a:r>
            <a:r>
              <a:rPr lang="en-IN" sz="2000" b="1" dirty="0"/>
              <a:t>uniform across all listed positions</a:t>
            </a:r>
            <a:r>
              <a:rPr lang="en-IN" sz="2000" dirty="0"/>
              <a:t>. </a:t>
            </a:r>
          </a:p>
          <a:p>
            <a:pPr marL="114300" indent="0">
              <a:buNone/>
            </a:pPr>
            <a:endParaRPr lang="en-IN" b="1" dirty="0"/>
          </a:p>
        </p:txBody>
      </p:sp>
      <p:pic>
        <p:nvPicPr>
          <p:cNvPr id="6" name="Picture 5">
            <a:extLst>
              <a:ext uri="{FF2B5EF4-FFF2-40B4-BE49-F238E27FC236}">
                <a16:creationId xmlns:a16="http://schemas.microsoft.com/office/drawing/2014/main" id="{EF13CF37-1272-3F64-BB58-09FC86D4964A}"/>
              </a:ext>
            </a:extLst>
          </p:cNvPr>
          <p:cNvPicPr>
            <a:picLocks noChangeAspect="1"/>
          </p:cNvPicPr>
          <p:nvPr/>
        </p:nvPicPr>
        <p:blipFill>
          <a:blip r:embed="rId2"/>
          <a:stretch>
            <a:fillRect/>
          </a:stretch>
        </p:blipFill>
        <p:spPr>
          <a:xfrm>
            <a:off x="323703" y="2061177"/>
            <a:ext cx="3375953" cy="2047836"/>
          </a:xfrm>
          <a:prstGeom prst="rect">
            <a:avLst/>
          </a:prstGeom>
        </p:spPr>
      </p:pic>
      <p:pic>
        <p:nvPicPr>
          <p:cNvPr id="9" name="Picture 8">
            <a:extLst>
              <a:ext uri="{FF2B5EF4-FFF2-40B4-BE49-F238E27FC236}">
                <a16:creationId xmlns:a16="http://schemas.microsoft.com/office/drawing/2014/main" id="{7C28A438-DB78-5527-A883-1741D8823D0F}"/>
              </a:ext>
            </a:extLst>
          </p:cNvPr>
          <p:cNvPicPr>
            <a:picLocks noChangeAspect="1"/>
          </p:cNvPicPr>
          <p:nvPr/>
        </p:nvPicPr>
        <p:blipFill>
          <a:blip r:embed="rId3"/>
          <a:stretch>
            <a:fillRect/>
          </a:stretch>
        </p:blipFill>
        <p:spPr>
          <a:xfrm>
            <a:off x="7448446" y="1573423"/>
            <a:ext cx="2385267" cy="2535590"/>
          </a:xfrm>
          <a:prstGeom prst="rect">
            <a:avLst/>
          </a:prstGeom>
        </p:spPr>
      </p:pic>
    </p:spTree>
    <p:extLst>
      <p:ext uri="{BB962C8B-B14F-4D97-AF65-F5344CB8AC3E}">
        <p14:creationId xmlns:p14="http://schemas.microsoft.com/office/powerpoint/2010/main" val="2734497204"/>
      </p:ext>
    </p:extLst>
  </p:cSld>
  <p:clrMapOvr>
    <a:masterClrMapping/>
  </p:clrMapOvr>
  <mc:AlternateContent xmlns:mc="http://schemas.openxmlformats.org/markup-compatibility/2006">
    <mc:Choice xmlns:p14="http://schemas.microsoft.com/office/powerpoint/2010/main" Requires="p14">
      <p:transition spd="slow" p14:dur="2000" advTm="33333"/>
    </mc:Choice>
    <mc:Fallback>
      <p:transition spd="slow" advTm="3333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07041-9D6E-FB87-DD8C-030021D14D66}"/>
              </a:ext>
            </a:extLst>
          </p:cNvPr>
          <p:cNvSpPr>
            <a:spLocks noGrp="1"/>
          </p:cNvSpPr>
          <p:nvPr>
            <p:ph type="title"/>
          </p:nvPr>
        </p:nvSpPr>
        <p:spPr/>
        <p:txBody>
          <a:bodyPr/>
          <a:lstStyle/>
          <a:p>
            <a:r>
              <a:rPr lang="en-IN" b="1" dirty="0"/>
              <a:t>LEAVE AND ABSENCE PATTERNS:</a:t>
            </a:r>
          </a:p>
        </p:txBody>
      </p:sp>
      <p:sp>
        <p:nvSpPr>
          <p:cNvPr id="3" name="Text Placeholder 2">
            <a:extLst>
              <a:ext uri="{FF2B5EF4-FFF2-40B4-BE49-F238E27FC236}">
                <a16:creationId xmlns:a16="http://schemas.microsoft.com/office/drawing/2014/main" id="{B28C1947-5878-6E25-5057-B49926FBF9EB}"/>
              </a:ext>
            </a:extLst>
          </p:cNvPr>
          <p:cNvSpPr>
            <a:spLocks noGrp="1"/>
          </p:cNvSpPr>
          <p:nvPr>
            <p:ph type="body" idx="1"/>
          </p:nvPr>
        </p:nvSpPr>
        <p:spPr/>
        <p:txBody>
          <a:bodyPr>
            <a:normAutofit fontScale="92500" lnSpcReduction="10000"/>
          </a:bodyPr>
          <a:lstStyle/>
          <a:p>
            <a:pPr marL="114300" indent="0">
              <a:buNone/>
            </a:pPr>
            <a:r>
              <a:rPr lang="en-IN" dirty="0"/>
              <a:t>Q.</a:t>
            </a:r>
            <a:r>
              <a:rPr lang="en-US" dirty="0"/>
              <a:t> Which year had the most employees taking leaves?</a:t>
            </a:r>
            <a:endParaRPr lang="en-IN" dirty="0"/>
          </a:p>
          <a:p>
            <a:pPr marL="114300" indent="0">
              <a:buNone/>
            </a:pPr>
            <a:r>
              <a:rPr lang="en-IN" b="1" dirty="0"/>
              <a:t>Query :                                                           Output :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dirty="0"/>
          </a:p>
          <a:p>
            <a:pPr marL="114300" indent="0">
              <a:buNone/>
            </a:pPr>
            <a:r>
              <a:rPr lang="en-IN" b="1" dirty="0"/>
              <a:t>Key Insights :</a:t>
            </a:r>
          </a:p>
          <a:p>
            <a:pPr lvl="0" algn="just"/>
            <a:r>
              <a:rPr lang="en-IN" sz="2200" dirty="0"/>
              <a:t>2024 had the most employees taking leaves, with 60 unique employees. </a:t>
            </a:r>
          </a:p>
          <a:p>
            <a:pPr lvl="0" algn="just"/>
            <a:r>
              <a:rPr lang="en-IN" sz="2200" dirty="0"/>
              <a:t>All 60 employees had at least one leave record in 2024, meaning 100% of employees had leave records. </a:t>
            </a:r>
          </a:p>
          <a:p>
            <a:endParaRPr lang="en-IN" dirty="0"/>
          </a:p>
        </p:txBody>
      </p:sp>
      <p:pic>
        <p:nvPicPr>
          <p:cNvPr id="5" name="Picture 4">
            <a:extLst>
              <a:ext uri="{FF2B5EF4-FFF2-40B4-BE49-F238E27FC236}">
                <a16:creationId xmlns:a16="http://schemas.microsoft.com/office/drawing/2014/main" id="{AB5847DE-952F-2E65-24B9-1562FF6C33EC}"/>
              </a:ext>
            </a:extLst>
          </p:cNvPr>
          <p:cNvPicPr>
            <a:picLocks noChangeAspect="1"/>
          </p:cNvPicPr>
          <p:nvPr/>
        </p:nvPicPr>
        <p:blipFill>
          <a:blip r:embed="rId2"/>
          <a:stretch>
            <a:fillRect/>
          </a:stretch>
        </p:blipFill>
        <p:spPr>
          <a:xfrm>
            <a:off x="1047492" y="2746967"/>
            <a:ext cx="5048508" cy="1767159"/>
          </a:xfrm>
          <a:prstGeom prst="rect">
            <a:avLst/>
          </a:prstGeom>
        </p:spPr>
      </p:pic>
      <p:pic>
        <p:nvPicPr>
          <p:cNvPr id="7" name="Picture 6">
            <a:extLst>
              <a:ext uri="{FF2B5EF4-FFF2-40B4-BE49-F238E27FC236}">
                <a16:creationId xmlns:a16="http://schemas.microsoft.com/office/drawing/2014/main" id="{37D24B38-E2A3-0DAD-7ECD-CAAEDC18A034}"/>
              </a:ext>
            </a:extLst>
          </p:cNvPr>
          <p:cNvPicPr>
            <a:picLocks noChangeAspect="1"/>
          </p:cNvPicPr>
          <p:nvPr/>
        </p:nvPicPr>
        <p:blipFill>
          <a:blip r:embed="rId3"/>
          <a:stretch>
            <a:fillRect/>
          </a:stretch>
        </p:blipFill>
        <p:spPr>
          <a:xfrm>
            <a:off x="6305291" y="2818934"/>
            <a:ext cx="2258605" cy="1220131"/>
          </a:xfrm>
          <a:prstGeom prst="rect">
            <a:avLst/>
          </a:prstGeom>
        </p:spPr>
      </p:pic>
    </p:spTree>
    <p:extLst>
      <p:ext uri="{BB962C8B-B14F-4D97-AF65-F5344CB8AC3E}">
        <p14:creationId xmlns:p14="http://schemas.microsoft.com/office/powerpoint/2010/main" val="1530200496"/>
      </p:ext>
    </p:extLst>
  </p:cSld>
  <p:clrMapOvr>
    <a:masterClrMapping/>
  </p:clrMapOvr>
  <mc:AlternateContent xmlns:mc="http://schemas.openxmlformats.org/markup-compatibility/2006">
    <mc:Choice xmlns:p14="http://schemas.microsoft.com/office/powerpoint/2010/main" Requires="p14">
      <p:transition spd="slow" p14:dur="2000" advTm="53638"/>
    </mc:Choice>
    <mc:Fallback>
      <p:transition spd="slow" advTm="5363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C697-6A9C-93F8-54FA-B6C29CACB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4F67C-0652-20B6-0068-B72FB68AED2C}"/>
              </a:ext>
            </a:extLst>
          </p:cNvPr>
          <p:cNvSpPr>
            <a:spLocks noGrp="1"/>
          </p:cNvSpPr>
          <p:nvPr>
            <p:ph type="title"/>
          </p:nvPr>
        </p:nvSpPr>
        <p:spPr>
          <a:xfrm>
            <a:off x="0" y="18255"/>
            <a:ext cx="10515600" cy="896145"/>
          </a:xfrm>
        </p:spPr>
        <p:txBody>
          <a:bodyPr>
            <a:normAutofit/>
          </a:bodyPr>
          <a:lstStyle/>
          <a:p>
            <a:r>
              <a:rPr lang="en-IN" sz="4000" b="1" dirty="0"/>
              <a:t>LEAVE AND ABSENCE PATTERNS:</a:t>
            </a:r>
          </a:p>
        </p:txBody>
      </p:sp>
      <p:sp>
        <p:nvSpPr>
          <p:cNvPr id="3" name="Text Placeholder 2">
            <a:extLst>
              <a:ext uri="{FF2B5EF4-FFF2-40B4-BE49-F238E27FC236}">
                <a16:creationId xmlns:a16="http://schemas.microsoft.com/office/drawing/2014/main" id="{5A029FF6-C238-73E9-B43F-AAFF1713A277}"/>
              </a:ext>
            </a:extLst>
          </p:cNvPr>
          <p:cNvSpPr>
            <a:spLocks noGrp="1"/>
          </p:cNvSpPr>
          <p:nvPr>
            <p:ph type="body" idx="1"/>
          </p:nvPr>
        </p:nvSpPr>
        <p:spPr>
          <a:xfrm>
            <a:off x="163286" y="914400"/>
            <a:ext cx="11190514" cy="5262563"/>
          </a:xfrm>
        </p:spPr>
        <p:txBody>
          <a:bodyPr>
            <a:normAutofit/>
          </a:bodyPr>
          <a:lstStyle/>
          <a:p>
            <a:pPr marL="114300" indent="0">
              <a:buNone/>
            </a:pPr>
            <a:r>
              <a:rPr lang="en-IN" dirty="0"/>
              <a:t>Q. </a:t>
            </a:r>
            <a:r>
              <a:rPr lang="en-US" dirty="0"/>
              <a:t>What is the total number of leave days taken company-wide?</a:t>
            </a:r>
            <a:endParaRPr lang="en-IN" dirty="0"/>
          </a:p>
          <a:p>
            <a:pPr marL="114300" indent="0">
              <a:buNone/>
            </a:pPr>
            <a:r>
              <a:rPr lang="en-IN" b="1" dirty="0"/>
              <a:t>Query :                                                           Output :        </a:t>
            </a:r>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r>
              <a:rPr lang="en-IN" b="1" dirty="0"/>
              <a:t>Key Insights :</a:t>
            </a:r>
          </a:p>
          <a:p>
            <a:pPr lvl="0" algn="just"/>
            <a:r>
              <a:rPr lang="en-IN" sz="2000" dirty="0"/>
              <a:t>The company recorded 60 total leave days, averaging 1 leave day per employee. </a:t>
            </a:r>
          </a:p>
          <a:p>
            <a:pPr lvl="0" algn="just"/>
            <a:r>
              <a:rPr lang="en-IN" sz="2000" dirty="0"/>
              <a:t>Overall, leave usage is uniform across the company. </a:t>
            </a:r>
          </a:p>
          <a:p>
            <a:pPr marL="114300" indent="0">
              <a:buNone/>
            </a:pPr>
            <a:endParaRPr lang="en-IN" b="1" dirty="0"/>
          </a:p>
        </p:txBody>
      </p:sp>
      <p:pic>
        <p:nvPicPr>
          <p:cNvPr id="8" name="Picture 7">
            <a:extLst>
              <a:ext uri="{FF2B5EF4-FFF2-40B4-BE49-F238E27FC236}">
                <a16:creationId xmlns:a16="http://schemas.microsoft.com/office/drawing/2014/main" id="{B68125F3-A3C6-7259-081E-F97E7F395A01}"/>
              </a:ext>
            </a:extLst>
          </p:cNvPr>
          <p:cNvPicPr>
            <a:picLocks noChangeAspect="1"/>
          </p:cNvPicPr>
          <p:nvPr/>
        </p:nvPicPr>
        <p:blipFill>
          <a:blip r:embed="rId2"/>
          <a:stretch>
            <a:fillRect/>
          </a:stretch>
        </p:blipFill>
        <p:spPr>
          <a:xfrm>
            <a:off x="743361" y="2221944"/>
            <a:ext cx="4514439" cy="1069861"/>
          </a:xfrm>
          <a:prstGeom prst="rect">
            <a:avLst/>
          </a:prstGeom>
        </p:spPr>
      </p:pic>
      <p:pic>
        <p:nvPicPr>
          <p:cNvPr id="11" name="Picture 10">
            <a:extLst>
              <a:ext uri="{FF2B5EF4-FFF2-40B4-BE49-F238E27FC236}">
                <a16:creationId xmlns:a16="http://schemas.microsoft.com/office/drawing/2014/main" id="{1FC28B9F-93DE-7283-3BA1-58E4240E6ADD}"/>
              </a:ext>
            </a:extLst>
          </p:cNvPr>
          <p:cNvPicPr>
            <a:picLocks noChangeAspect="1"/>
          </p:cNvPicPr>
          <p:nvPr/>
        </p:nvPicPr>
        <p:blipFill>
          <a:blip r:embed="rId3"/>
          <a:stretch>
            <a:fillRect/>
          </a:stretch>
        </p:blipFill>
        <p:spPr>
          <a:xfrm>
            <a:off x="6657729" y="2221944"/>
            <a:ext cx="2653419" cy="1226307"/>
          </a:xfrm>
          <a:prstGeom prst="rect">
            <a:avLst/>
          </a:prstGeom>
        </p:spPr>
      </p:pic>
    </p:spTree>
    <p:extLst>
      <p:ext uri="{BB962C8B-B14F-4D97-AF65-F5344CB8AC3E}">
        <p14:creationId xmlns:p14="http://schemas.microsoft.com/office/powerpoint/2010/main" val="1834585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06931-F14E-E6B2-4582-CFEAD451F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98793-D327-42D6-0FE5-D82AE5638F19}"/>
              </a:ext>
            </a:extLst>
          </p:cNvPr>
          <p:cNvSpPr>
            <a:spLocks noGrp="1"/>
          </p:cNvSpPr>
          <p:nvPr>
            <p:ph type="title"/>
          </p:nvPr>
        </p:nvSpPr>
        <p:spPr>
          <a:xfrm>
            <a:off x="0" y="18255"/>
            <a:ext cx="10515600" cy="896145"/>
          </a:xfrm>
        </p:spPr>
        <p:txBody>
          <a:bodyPr>
            <a:normAutofit/>
          </a:bodyPr>
          <a:lstStyle/>
          <a:p>
            <a:r>
              <a:rPr lang="en-IN" sz="4000" b="1" dirty="0"/>
              <a:t> PAYROLL AND COMPENSATION ANALYSIS:</a:t>
            </a:r>
          </a:p>
        </p:txBody>
      </p:sp>
      <p:sp>
        <p:nvSpPr>
          <p:cNvPr id="3" name="Text Placeholder 2">
            <a:extLst>
              <a:ext uri="{FF2B5EF4-FFF2-40B4-BE49-F238E27FC236}">
                <a16:creationId xmlns:a16="http://schemas.microsoft.com/office/drawing/2014/main" id="{DC8A117E-DC9D-3C44-A38A-6E0A7F0770B0}"/>
              </a:ext>
            </a:extLst>
          </p:cNvPr>
          <p:cNvSpPr>
            <a:spLocks noGrp="1"/>
          </p:cNvSpPr>
          <p:nvPr>
            <p:ph type="body" idx="1"/>
          </p:nvPr>
        </p:nvSpPr>
        <p:spPr>
          <a:xfrm>
            <a:off x="163286" y="914400"/>
            <a:ext cx="11190514" cy="5262563"/>
          </a:xfrm>
        </p:spPr>
        <p:txBody>
          <a:bodyPr>
            <a:normAutofit/>
          </a:bodyPr>
          <a:lstStyle/>
          <a:p>
            <a:pPr marL="114300" indent="0">
              <a:buNone/>
            </a:pPr>
            <a:r>
              <a:rPr lang="en-IN" dirty="0"/>
              <a:t>Q. </a:t>
            </a:r>
            <a:r>
              <a:rPr lang="en-US" dirty="0"/>
              <a:t>What is the total monthly payroll processed?</a:t>
            </a:r>
            <a:endParaRPr lang="en-IN" dirty="0"/>
          </a:p>
          <a:p>
            <a:pPr marL="114300" indent="0">
              <a:buNone/>
            </a:pPr>
            <a:r>
              <a:rPr lang="en-IN" b="1" dirty="0"/>
              <a:t>Query :                                                           Output :        </a:t>
            </a:r>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endParaRPr lang="en-IN" sz="2000" dirty="0"/>
          </a:p>
          <a:p>
            <a:pPr marL="114300" indent="0">
              <a:buNone/>
            </a:pPr>
            <a:r>
              <a:rPr lang="en-IN" b="1" dirty="0"/>
              <a:t>Key Insights :</a:t>
            </a:r>
          </a:p>
          <a:p>
            <a:pPr lvl="0" algn="just"/>
            <a:r>
              <a:rPr lang="en-IN" sz="2000" dirty="0"/>
              <a:t>In April 2024, the company processed a total monthly payroll of 2,778,000, averaging 46,300 per employee.</a:t>
            </a:r>
          </a:p>
          <a:p>
            <a:pPr lvl="0" algn="just"/>
            <a:r>
              <a:rPr lang="en-IN" sz="2000" dirty="0"/>
              <a:t>This provides a useful baseline for monthly payroll budgeting and workforce cost analysis.</a:t>
            </a:r>
          </a:p>
          <a:p>
            <a:pPr marL="114300" indent="0">
              <a:buNone/>
            </a:pPr>
            <a:endParaRPr lang="en-IN" b="1" dirty="0"/>
          </a:p>
        </p:txBody>
      </p:sp>
      <p:pic>
        <p:nvPicPr>
          <p:cNvPr id="6" name="Picture 5">
            <a:extLst>
              <a:ext uri="{FF2B5EF4-FFF2-40B4-BE49-F238E27FC236}">
                <a16:creationId xmlns:a16="http://schemas.microsoft.com/office/drawing/2014/main" id="{27539B8B-D25F-BC3D-E568-34B6F2F386D4}"/>
              </a:ext>
            </a:extLst>
          </p:cNvPr>
          <p:cNvPicPr>
            <a:picLocks noChangeAspect="1"/>
          </p:cNvPicPr>
          <p:nvPr/>
        </p:nvPicPr>
        <p:blipFill>
          <a:blip r:embed="rId2"/>
          <a:stretch>
            <a:fillRect/>
          </a:stretch>
        </p:blipFill>
        <p:spPr>
          <a:xfrm>
            <a:off x="621247" y="2113626"/>
            <a:ext cx="4530482" cy="1932285"/>
          </a:xfrm>
          <a:prstGeom prst="rect">
            <a:avLst/>
          </a:prstGeom>
        </p:spPr>
      </p:pic>
      <p:pic>
        <p:nvPicPr>
          <p:cNvPr id="9" name="Picture 8">
            <a:extLst>
              <a:ext uri="{FF2B5EF4-FFF2-40B4-BE49-F238E27FC236}">
                <a16:creationId xmlns:a16="http://schemas.microsoft.com/office/drawing/2014/main" id="{BBA30CFB-3874-E326-1998-5C893FE786D1}"/>
              </a:ext>
            </a:extLst>
          </p:cNvPr>
          <p:cNvPicPr>
            <a:picLocks noChangeAspect="1"/>
          </p:cNvPicPr>
          <p:nvPr/>
        </p:nvPicPr>
        <p:blipFill>
          <a:blip r:embed="rId3"/>
          <a:stretch>
            <a:fillRect/>
          </a:stretch>
        </p:blipFill>
        <p:spPr>
          <a:xfrm>
            <a:off x="6316016" y="2342860"/>
            <a:ext cx="3378589" cy="1202821"/>
          </a:xfrm>
          <a:prstGeom prst="rect">
            <a:avLst/>
          </a:prstGeom>
        </p:spPr>
      </p:pic>
    </p:spTree>
    <p:extLst>
      <p:ext uri="{BB962C8B-B14F-4D97-AF65-F5344CB8AC3E}">
        <p14:creationId xmlns:p14="http://schemas.microsoft.com/office/powerpoint/2010/main" val="1724808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8D7BD-D7D1-56E1-8C05-DC91241294CD}"/>
              </a:ext>
            </a:extLst>
          </p:cNvPr>
          <p:cNvSpPr>
            <a:spLocks noGrp="1"/>
          </p:cNvSpPr>
          <p:nvPr>
            <p:ph type="title"/>
          </p:nvPr>
        </p:nvSpPr>
        <p:spPr/>
        <p:txBody>
          <a:bodyPr/>
          <a:lstStyle/>
          <a:p>
            <a:r>
              <a:rPr lang="en-IN" b="1" dirty="0"/>
              <a:t> PAYROLL AND COMPENSATION ANALYSIS:</a:t>
            </a:r>
            <a:endParaRPr lang="en-IN" dirty="0"/>
          </a:p>
        </p:txBody>
      </p:sp>
      <p:sp>
        <p:nvSpPr>
          <p:cNvPr id="3" name="Text Placeholder 2">
            <a:extLst>
              <a:ext uri="{FF2B5EF4-FFF2-40B4-BE49-F238E27FC236}">
                <a16:creationId xmlns:a16="http://schemas.microsoft.com/office/drawing/2014/main" id="{4517E493-B652-4F90-7D0E-A5B736725F24}"/>
              </a:ext>
            </a:extLst>
          </p:cNvPr>
          <p:cNvSpPr>
            <a:spLocks noGrp="1"/>
          </p:cNvSpPr>
          <p:nvPr>
            <p:ph type="body" idx="1"/>
          </p:nvPr>
        </p:nvSpPr>
        <p:spPr/>
        <p:txBody>
          <a:bodyPr>
            <a:normAutofit fontScale="92500" lnSpcReduction="10000"/>
          </a:bodyPr>
          <a:lstStyle/>
          <a:p>
            <a:pPr marL="114300" indent="0">
              <a:buNone/>
            </a:pPr>
            <a:r>
              <a:rPr lang="en-IN" dirty="0"/>
              <a:t>Q.</a:t>
            </a:r>
            <a:r>
              <a:rPr lang="en-US" dirty="0"/>
              <a:t> What is the average value of </a:t>
            </a:r>
            <a:r>
              <a:rPr lang="en-US" dirty="0" err="1"/>
              <a:t>total_amount</a:t>
            </a:r>
            <a:r>
              <a:rPr lang="en-US" dirty="0"/>
              <a:t> after considering leave deductions?</a:t>
            </a:r>
            <a:endParaRPr lang="en-IN" dirty="0"/>
          </a:p>
          <a:p>
            <a:pPr marL="114300" indent="0">
              <a:buNone/>
            </a:pPr>
            <a:r>
              <a:rPr lang="en-IN" b="1" dirty="0"/>
              <a:t>Query :                                                           Output :        </a:t>
            </a:r>
          </a:p>
          <a:p>
            <a:pPr marL="114300" indent="0">
              <a:buNone/>
            </a:pPr>
            <a:endParaRPr lang="en-IN" dirty="0"/>
          </a:p>
          <a:p>
            <a:pPr marL="114300" indent="0">
              <a:buNone/>
            </a:pPr>
            <a:endParaRPr lang="en-IN" dirty="0"/>
          </a:p>
          <a:p>
            <a:pPr marL="114300" indent="0">
              <a:buNone/>
            </a:pPr>
            <a:endParaRPr lang="en-IN" dirty="0"/>
          </a:p>
          <a:p>
            <a:pPr marL="114300" indent="0">
              <a:buNone/>
            </a:pPr>
            <a:endParaRPr lang="en-IN" b="1" dirty="0"/>
          </a:p>
          <a:p>
            <a:pPr marL="114300" indent="0">
              <a:buNone/>
            </a:pPr>
            <a:r>
              <a:rPr lang="en-IN" b="1" dirty="0"/>
              <a:t>Key Insights :</a:t>
            </a:r>
          </a:p>
          <a:p>
            <a:pPr lvl="0" algn="just"/>
            <a:r>
              <a:rPr lang="en-IN" sz="2200" dirty="0"/>
              <a:t>The </a:t>
            </a:r>
            <a:r>
              <a:rPr lang="en-IN" sz="2200" b="1" dirty="0"/>
              <a:t>average net payroll after leave deductions is 46,300 per employee</a:t>
            </a:r>
            <a:r>
              <a:rPr lang="en-IN" sz="2200" dirty="0"/>
              <a:t>. </a:t>
            </a:r>
          </a:p>
          <a:p>
            <a:pPr lvl="0" algn="just"/>
            <a:r>
              <a:rPr lang="en-IN" sz="2200" dirty="0"/>
              <a:t>This represents the company’s </a:t>
            </a:r>
            <a:r>
              <a:rPr lang="en-IN" sz="2200" b="1" dirty="0"/>
              <a:t>average effective payroll cost</a:t>
            </a:r>
            <a:r>
              <a:rPr lang="en-IN" sz="2200" dirty="0"/>
              <a:t> for its 60 employees.</a:t>
            </a:r>
          </a:p>
          <a:p>
            <a:endParaRPr lang="en-IN" dirty="0"/>
          </a:p>
        </p:txBody>
      </p:sp>
      <p:pic>
        <p:nvPicPr>
          <p:cNvPr id="5" name="Picture 4">
            <a:extLst>
              <a:ext uri="{FF2B5EF4-FFF2-40B4-BE49-F238E27FC236}">
                <a16:creationId xmlns:a16="http://schemas.microsoft.com/office/drawing/2014/main" id="{235C4F1E-CAFC-9460-DA46-FDD11ED1FB91}"/>
              </a:ext>
            </a:extLst>
          </p:cNvPr>
          <p:cNvPicPr>
            <a:picLocks noChangeAspect="1"/>
          </p:cNvPicPr>
          <p:nvPr/>
        </p:nvPicPr>
        <p:blipFill>
          <a:blip r:embed="rId2"/>
          <a:stretch>
            <a:fillRect/>
          </a:stretch>
        </p:blipFill>
        <p:spPr>
          <a:xfrm>
            <a:off x="1287180" y="3429000"/>
            <a:ext cx="4159891" cy="766145"/>
          </a:xfrm>
          <a:prstGeom prst="rect">
            <a:avLst/>
          </a:prstGeom>
        </p:spPr>
      </p:pic>
      <p:pic>
        <p:nvPicPr>
          <p:cNvPr id="7" name="Picture 6">
            <a:extLst>
              <a:ext uri="{FF2B5EF4-FFF2-40B4-BE49-F238E27FC236}">
                <a16:creationId xmlns:a16="http://schemas.microsoft.com/office/drawing/2014/main" id="{A2012CDA-94BD-B40B-428F-84DD0EEE267C}"/>
              </a:ext>
            </a:extLst>
          </p:cNvPr>
          <p:cNvPicPr>
            <a:picLocks noChangeAspect="1"/>
          </p:cNvPicPr>
          <p:nvPr/>
        </p:nvPicPr>
        <p:blipFill>
          <a:blip r:embed="rId3"/>
          <a:stretch>
            <a:fillRect/>
          </a:stretch>
        </p:blipFill>
        <p:spPr>
          <a:xfrm>
            <a:off x="7119987" y="3429000"/>
            <a:ext cx="1729890" cy="887770"/>
          </a:xfrm>
          <a:prstGeom prst="rect">
            <a:avLst/>
          </a:prstGeom>
        </p:spPr>
      </p:pic>
    </p:spTree>
    <p:extLst>
      <p:ext uri="{BB962C8B-B14F-4D97-AF65-F5344CB8AC3E}">
        <p14:creationId xmlns:p14="http://schemas.microsoft.com/office/powerpoint/2010/main" val="2101897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0E2A-2920-A5A0-9633-762552E9A5E0}"/>
              </a:ext>
            </a:extLst>
          </p:cNvPr>
          <p:cNvSpPr>
            <a:spLocks noGrp="1"/>
          </p:cNvSpPr>
          <p:nvPr>
            <p:ph type="title"/>
          </p:nvPr>
        </p:nvSpPr>
        <p:spPr>
          <a:xfrm>
            <a:off x="936523" y="365125"/>
            <a:ext cx="10515600" cy="1325563"/>
          </a:xfrm>
        </p:spPr>
        <p:txBody>
          <a:bodyPr/>
          <a:lstStyle/>
          <a:p>
            <a:r>
              <a:rPr lang="en-US" b="1" dirty="0"/>
              <a:t>Challenges Faced :</a:t>
            </a:r>
            <a:endParaRPr lang="en-IN" b="1" dirty="0"/>
          </a:p>
        </p:txBody>
      </p:sp>
      <p:sp>
        <p:nvSpPr>
          <p:cNvPr id="3" name="Text Placeholder 2">
            <a:extLst>
              <a:ext uri="{FF2B5EF4-FFF2-40B4-BE49-F238E27FC236}">
                <a16:creationId xmlns:a16="http://schemas.microsoft.com/office/drawing/2014/main" id="{C646C654-2D46-2C4A-AE43-508D92B3F775}"/>
              </a:ext>
            </a:extLst>
          </p:cNvPr>
          <p:cNvSpPr>
            <a:spLocks noGrp="1"/>
          </p:cNvSpPr>
          <p:nvPr>
            <p:ph type="body" idx="1"/>
          </p:nvPr>
        </p:nvSpPr>
        <p:spPr/>
        <p:txBody>
          <a:bodyPr>
            <a:normAutofit/>
          </a:bodyPr>
          <a:lstStyle/>
          <a:p>
            <a:pPr lvl="0"/>
            <a:r>
              <a:rPr lang="en-IN" sz="2000" dirty="0"/>
              <a:t>Integrating and connecting data from multiple employee management tables.</a:t>
            </a:r>
          </a:p>
          <a:p>
            <a:pPr marL="114300" lvl="0" indent="0">
              <a:buNone/>
            </a:pPr>
            <a:r>
              <a:rPr lang="en-IN" sz="2000" dirty="0"/>
              <a:t> </a:t>
            </a:r>
          </a:p>
          <a:p>
            <a:pPr lvl="0"/>
            <a:r>
              <a:rPr lang="en-IN" sz="2000" dirty="0"/>
              <a:t>Writing complex SQL queries using joins, aggregations, and grouping. </a:t>
            </a:r>
          </a:p>
          <a:p>
            <a:pPr lvl="0"/>
            <a:endParaRPr lang="en-IN" sz="2000" dirty="0"/>
          </a:p>
          <a:p>
            <a:pPr lvl="0"/>
            <a:r>
              <a:rPr lang="en-IN" sz="2000" dirty="0"/>
              <a:t>Avoiding duplicate records while calculating salary, bonus, and leave metrics. </a:t>
            </a:r>
          </a:p>
          <a:p>
            <a:pPr lvl="0"/>
            <a:endParaRPr lang="en-IN" sz="2000" dirty="0"/>
          </a:p>
          <a:p>
            <a:pPr lvl="0"/>
            <a:r>
              <a:rPr lang="en-IN" sz="2000" dirty="0"/>
              <a:t>Handling data consistency and missing values across different tables. </a:t>
            </a:r>
          </a:p>
          <a:p>
            <a:pPr marL="114300" lvl="0" indent="0">
              <a:buNone/>
            </a:pPr>
            <a:endParaRPr lang="en-IN" sz="2000" dirty="0"/>
          </a:p>
          <a:p>
            <a:pPr lvl="0"/>
            <a:r>
              <a:rPr lang="en-IN" sz="2000" dirty="0"/>
              <a:t>Ensuring the accuracy of calculated results and validating them against the source data.</a:t>
            </a:r>
          </a:p>
          <a:p>
            <a:pPr marL="114300" indent="0">
              <a:buNone/>
            </a:pPr>
            <a:endParaRPr lang="en-IN" sz="2000" dirty="0"/>
          </a:p>
        </p:txBody>
      </p:sp>
    </p:spTree>
    <p:extLst>
      <p:ext uri="{BB962C8B-B14F-4D97-AF65-F5344CB8AC3E}">
        <p14:creationId xmlns:p14="http://schemas.microsoft.com/office/powerpoint/2010/main" val="3344515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E8DD9-2EDD-2235-EE0E-33B1C25F18DE}"/>
              </a:ext>
            </a:extLst>
          </p:cNvPr>
          <p:cNvSpPr>
            <a:spLocks noGrp="1"/>
          </p:cNvSpPr>
          <p:nvPr>
            <p:ph type="title"/>
          </p:nvPr>
        </p:nvSpPr>
        <p:spPr/>
        <p:txBody>
          <a:bodyPr/>
          <a:lstStyle/>
          <a:p>
            <a:r>
              <a:rPr lang="en-US" b="1" dirty="0"/>
              <a:t>Conclusion :</a:t>
            </a:r>
            <a:endParaRPr lang="en-IN" b="1" dirty="0"/>
          </a:p>
        </p:txBody>
      </p:sp>
      <p:sp>
        <p:nvSpPr>
          <p:cNvPr id="3" name="Text Placeholder 2">
            <a:extLst>
              <a:ext uri="{FF2B5EF4-FFF2-40B4-BE49-F238E27FC236}">
                <a16:creationId xmlns:a16="http://schemas.microsoft.com/office/drawing/2014/main" id="{4A191466-A71C-6443-D189-B913DB7A9E4B}"/>
              </a:ext>
            </a:extLst>
          </p:cNvPr>
          <p:cNvSpPr>
            <a:spLocks noGrp="1"/>
          </p:cNvSpPr>
          <p:nvPr>
            <p:ph type="body" idx="1"/>
          </p:nvPr>
        </p:nvSpPr>
        <p:spPr/>
        <p:txBody>
          <a:bodyPr>
            <a:normAutofit/>
          </a:bodyPr>
          <a:lstStyle/>
          <a:p>
            <a:pPr marL="114300" indent="0">
              <a:buNone/>
            </a:pPr>
            <a:r>
              <a:rPr lang="en-IN" sz="2400" dirty="0"/>
              <a:t>The Employee Management project successfully used SQL to </a:t>
            </a:r>
            <a:r>
              <a:rPr lang="en-IN" sz="2400" dirty="0" err="1"/>
              <a:t>analyze</a:t>
            </a:r>
            <a:r>
              <a:rPr lang="en-IN" sz="2400" dirty="0"/>
              <a:t> employee, department, salary, payroll, leave, and qualification data. The analysis provided useful findings about workforce distribution, salary and bonus allocation, payroll expenses, and leave patterns. These findings can help management make better decisions related to employee planning, compensation, payroll management, and workforce analysis.</a:t>
            </a:r>
          </a:p>
          <a:p>
            <a:pPr marL="114300" indent="0">
              <a:buNone/>
            </a:pPr>
            <a:endParaRPr lang="en-IN" sz="2000" dirty="0"/>
          </a:p>
        </p:txBody>
      </p:sp>
    </p:spTree>
    <p:extLst>
      <p:ext uri="{BB962C8B-B14F-4D97-AF65-F5344CB8AC3E}">
        <p14:creationId xmlns:p14="http://schemas.microsoft.com/office/powerpoint/2010/main" val="1364921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917</TotalTime>
  <Words>980</Words>
  <Application>Microsoft Office PowerPoint</Application>
  <PresentationFormat>Widescreen</PresentationFormat>
  <Paragraphs>182</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Arial</vt:lpstr>
      <vt:lpstr>Libre Baskerville</vt:lpstr>
      <vt:lpstr>Lato Black</vt:lpstr>
      <vt:lpstr>Office Theme</vt:lpstr>
      <vt:lpstr>PowerPoint Presentation</vt:lpstr>
      <vt:lpstr>PowerPoint Presentation</vt:lpstr>
      <vt:lpstr>PowerPoint Presentation</vt:lpstr>
      <vt:lpstr>Objective :</vt:lpstr>
      <vt:lpstr>Problem Statement :</vt:lpstr>
      <vt:lpstr>Overview :</vt:lpstr>
      <vt:lpstr>EER Diagram :</vt:lpstr>
      <vt:lpstr>EMPLOYEE INSIGHTS:</vt:lpstr>
      <vt:lpstr>EMPLOYEE INSIGHTS:</vt:lpstr>
      <vt:lpstr> JOB ROLE AND DEPARTMENT ANALYSIS:</vt:lpstr>
      <vt:lpstr> JOB ROLE AND DEPARTMENT ANALYSIS:</vt:lpstr>
      <vt:lpstr> JOB ROLE AND DEPARTMENT ANALYSIS:</vt:lpstr>
      <vt:lpstr>QUALIFICATION AND SKILLS ANALYSIS:</vt:lpstr>
      <vt:lpstr>QUALIFICATION AND SKILLS ANALYSIS:</vt:lpstr>
      <vt:lpstr>LEAVE AND ABSENCE PATTERNS:</vt:lpstr>
      <vt:lpstr>LEAVE AND ABSENCE PATTERNS:</vt:lpstr>
      <vt:lpstr> PAYROLL AND COMPENSATION ANALYSIS:</vt:lpstr>
      <vt:lpstr> PAYROLL AND COMPENSATION ANALYSIS:</vt:lpstr>
      <vt:lpstr>Challenges Faced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Anwesha panda</cp:lastModifiedBy>
  <cp:revision>10</cp:revision>
  <dcterms:created xsi:type="dcterms:W3CDTF">2021-02-16T05:19:01Z</dcterms:created>
  <dcterms:modified xsi:type="dcterms:W3CDTF">2026-08-13T13:05:09Z</dcterms:modified>
</cp:coreProperties>
</file>